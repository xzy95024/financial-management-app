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4" r:id="rId1"/>
  </p:sldMasterIdLst>
  <p:notesMasterIdLst>
    <p:notesMasterId r:id="rId18"/>
  </p:notesMasterIdLst>
  <p:sldIdLst>
    <p:sldId id="256" r:id="rId2"/>
    <p:sldId id="257" r:id="rId3"/>
    <p:sldId id="347" r:id="rId4"/>
    <p:sldId id="348" r:id="rId5"/>
    <p:sldId id="350" r:id="rId6"/>
    <p:sldId id="351" r:id="rId7"/>
    <p:sldId id="352" r:id="rId8"/>
    <p:sldId id="353" r:id="rId9"/>
    <p:sldId id="354" r:id="rId10"/>
    <p:sldId id="355" r:id="rId11"/>
    <p:sldId id="356" r:id="rId12"/>
    <p:sldId id="357" r:id="rId13"/>
    <p:sldId id="358" r:id="rId14"/>
    <p:sldId id="359" r:id="rId15"/>
    <p:sldId id="258" r:id="rId16"/>
    <p:sldId id="261" r:id="rId17"/>
  </p:sldIdLst>
  <p:sldSz cx="9144000" cy="5143500" type="screen16x9"/>
  <p:notesSz cx="6858000" cy="9144000"/>
  <p:embeddedFontLst>
    <p:embeddedFont>
      <p:font typeface="Crimson Text" panose="02010600030101010101" charset="0"/>
      <p:regular r:id="rId19"/>
      <p:bold r:id="rId20"/>
      <p:italic r:id="rId21"/>
      <p:boldItalic r:id="rId22"/>
    </p:embeddedFont>
    <p:embeddedFont>
      <p:font typeface="Lato" panose="020F0502020204030203" pitchFamily="34" charset="0"/>
      <p:regular r:id="rId23"/>
      <p:bold r:id="rId24"/>
      <p:italic r:id="rId25"/>
      <p:boldItalic r:id="rId26"/>
    </p:embeddedFont>
    <p:embeddedFont>
      <p:font typeface="Montserrat" panose="00000500000000000000" pitchFamily="2" charset="0"/>
      <p:regular r:id="rId27"/>
      <p:bold r:id="rId28"/>
      <p:italic r:id="rId29"/>
      <p:boldItalic r:id="rId30"/>
    </p:embeddedFont>
    <p:embeddedFont>
      <p:font typeface="Vidaloka" panose="02010600030101010101" charset="0"/>
      <p:regular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922B07-DC84-470D-A3C0-1BDF5160DC1B}">
  <a:tblStyle styleId="{80922B07-DC84-470D-A3C0-1BDF5160DC1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04" d="100"/>
          <a:sy n="204" d="100"/>
        </p:scale>
        <p:origin x="46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cc7554a049_0_3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c7554a049_0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a:extLst>
            <a:ext uri="{FF2B5EF4-FFF2-40B4-BE49-F238E27FC236}">
              <a16:creationId xmlns:a16="http://schemas.microsoft.com/office/drawing/2014/main" id="{39EBDDE9-A1A2-0BBF-D6B3-45FA51AC2467}"/>
            </a:ext>
          </a:extLst>
        </p:cNvPr>
        <p:cNvGrpSpPr/>
        <p:nvPr/>
      </p:nvGrpSpPr>
      <p:grpSpPr>
        <a:xfrm>
          <a:off x="0" y="0"/>
          <a:ext cx="0" cy="0"/>
          <a:chOff x="0" y="0"/>
          <a:chExt cx="0" cy="0"/>
        </a:xfrm>
      </p:grpSpPr>
      <p:sp>
        <p:nvSpPr>
          <p:cNvPr id="491" name="Google Shape;491;gcc7554a049_0_358:notes">
            <a:extLst>
              <a:ext uri="{FF2B5EF4-FFF2-40B4-BE49-F238E27FC236}">
                <a16:creationId xmlns:a16="http://schemas.microsoft.com/office/drawing/2014/main" id="{28F50CCD-A970-B2C3-80EC-14351E7623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c7554a049_0_358:notes">
            <a:extLst>
              <a:ext uri="{FF2B5EF4-FFF2-40B4-BE49-F238E27FC236}">
                <a16:creationId xmlns:a16="http://schemas.microsoft.com/office/drawing/2014/main" id="{1DAD35C5-6F42-8F93-3AFA-F617311C1C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49085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a:extLst>
            <a:ext uri="{FF2B5EF4-FFF2-40B4-BE49-F238E27FC236}">
              <a16:creationId xmlns:a16="http://schemas.microsoft.com/office/drawing/2014/main" id="{B8669D7F-3D46-ED43-2E89-88ECA1A1C039}"/>
            </a:ext>
          </a:extLst>
        </p:cNvPr>
        <p:cNvGrpSpPr/>
        <p:nvPr/>
      </p:nvGrpSpPr>
      <p:grpSpPr>
        <a:xfrm>
          <a:off x="0" y="0"/>
          <a:ext cx="0" cy="0"/>
          <a:chOff x="0" y="0"/>
          <a:chExt cx="0" cy="0"/>
        </a:xfrm>
      </p:grpSpPr>
      <p:sp>
        <p:nvSpPr>
          <p:cNvPr id="491" name="Google Shape;491;gcc7554a049_0_358:notes">
            <a:extLst>
              <a:ext uri="{FF2B5EF4-FFF2-40B4-BE49-F238E27FC236}">
                <a16:creationId xmlns:a16="http://schemas.microsoft.com/office/drawing/2014/main" id="{EB5BB91C-9203-DF01-2DDB-4124124B8E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c7554a049_0_358:notes">
            <a:extLst>
              <a:ext uri="{FF2B5EF4-FFF2-40B4-BE49-F238E27FC236}">
                <a16:creationId xmlns:a16="http://schemas.microsoft.com/office/drawing/2014/main" id="{AA2D7F6B-3CC5-FFBE-380D-41179F8519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351398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a:extLst>
            <a:ext uri="{FF2B5EF4-FFF2-40B4-BE49-F238E27FC236}">
              <a16:creationId xmlns:a16="http://schemas.microsoft.com/office/drawing/2014/main" id="{CDFF07CA-48C5-9E75-A59E-7CF5874F7B18}"/>
            </a:ext>
          </a:extLst>
        </p:cNvPr>
        <p:cNvGrpSpPr/>
        <p:nvPr/>
      </p:nvGrpSpPr>
      <p:grpSpPr>
        <a:xfrm>
          <a:off x="0" y="0"/>
          <a:ext cx="0" cy="0"/>
          <a:chOff x="0" y="0"/>
          <a:chExt cx="0" cy="0"/>
        </a:xfrm>
      </p:grpSpPr>
      <p:sp>
        <p:nvSpPr>
          <p:cNvPr id="491" name="Google Shape;491;gcc7554a049_0_358:notes">
            <a:extLst>
              <a:ext uri="{FF2B5EF4-FFF2-40B4-BE49-F238E27FC236}">
                <a16:creationId xmlns:a16="http://schemas.microsoft.com/office/drawing/2014/main" id="{2A3A7BED-7AE2-E1F0-0033-89D39F8D24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c7554a049_0_358:notes">
            <a:extLst>
              <a:ext uri="{FF2B5EF4-FFF2-40B4-BE49-F238E27FC236}">
                <a16:creationId xmlns:a16="http://schemas.microsoft.com/office/drawing/2014/main" id="{8A267B7D-2D3B-DC3F-3642-A415CD5C95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32397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a:extLst>
            <a:ext uri="{FF2B5EF4-FFF2-40B4-BE49-F238E27FC236}">
              <a16:creationId xmlns:a16="http://schemas.microsoft.com/office/drawing/2014/main" id="{770718F5-CDE1-4FB7-520F-E467B07B93B2}"/>
            </a:ext>
          </a:extLst>
        </p:cNvPr>
        <p:cNvGrpSpPr/>
        <p:nvPr/>
      </p:nvGrpSpPr>
      <p:grpSpPr>
        <a:xfrm>
          <a:off x="0" y="0"/>
          <a:ext cx="0" cy="0"/>
          <a:chOff x="0" y="0"/>
          <a:chExt cx="0" cy="0"/>
        </a:xfrm>
      </p:grpSpPr>
      <p:sp>
        <p:nvSpPr>
          <p:cNvPr id="491" name="Google Shape;491;gcc7554a049_0_358:notes">
            <a:extLst>
              <a:ext uri="{FF2B5EF4-FFF2-40B4-BE49-F238E27FC236}">
                <a16:creationId xmlns:a16="http://schemas.microsoft.com/office/drawing/2014/main" id="{FE5AB8D7-76AB-DFF7-5E5E-068ABAC10B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c7554a049_0_358:notes">
            <a:extLst>
              <a:ext uri="{FF2B5EF4-FFF2-40B4-BE49-F238E27FC236}">
                <a16:creationId xmlns:a16="http://schemas.microsoft.com/office/drawing/2014/main" id="{0FDFA121-9F86-5790-99B3-64D142D493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61817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a:extLst>
            <a:ext uri="{FF2B5EF4-FFF2-40B4-BE49-F238E27FC236}">
              <a16:creationId xmlns:a16="http://schemas.microsoft.com/office/drawing/2014/main" id="{F306CE53-AA90-22EA-06DD-5577525B01D6}"/>
            </a:ext>
          </a:extLst>
        </p:cNvPr>
        <p:cNvGrpSpPr/>
        <p:nvPr/>
      </p:nvGrpSpPr>
      <p:grpSpPr>
        <a:xfrm>
          <a:off x="0" y="0"/>
          <a:ext cx="0" cy="0"/>
          <a:chOff x="0" y="0"/>
          <a:chExt cx="0" cy="0"/>
        </a:xfrm>
      </p:grpSpPr>
      <p:sp>
        <p:nvSpPr>
          <p:cNvPr id="491" name="Google Shape;491;gcc7554a049_0_358:notes">
            <a:extLst>
              <a:ext uri="{FF2B5EF4-FFF2-40B4-BE49-F238E27FC236}">
                <a16:creationId xmlns:a16="http://schemas.microsoft.com/office/drawing/2014/main" id="{283BBDAC-E7F4-EE7E-3038-78010424C8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c7554a049_0_358:notes">
            <a:extLst>
              <a:ext uri="{FF2B5EF4-FFF2-40B4-BE49-F238E27FC236}">
                <a16:creationId xmlns:a16="http://schemas.microsoft.com/office/drawing/2014/main" id="{AD3D946D-138C-B3D8-9FAD-BB7700B037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62516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a:extLst>
            <a:ext uri="{FF2B5EF4-FFF2-40B4-BE49-F238E27FC236}">
              <a16:creationId xmlns:a16="http://schemas.microsoft.com/office/drawing/2014/main" id="{CB56CF79-C4B5-D4E1-8357-2AA16CF7FEF2}"/>
            </a:ext>
          </a:extLst>
        </p:cNvPr>
        <p:cNvGrpSpPr/>
        <p:nvPr/>
      </p:nvGrpSpPr>
      <p:grpSpPr>
        <a:xfrm>
          <a:off x="0" y="0"/>
          <a:ext cx="0" cy="0"/>
          <a:chOff x="0" y="0"/>
          <a:chExt cx="0" cy="0"/>
        </a:xfrm>
      </p:grpSpPr>
      <p:sp>
        <p:nvSpPr>
          <p:cNvPr id="491" name="Google Shape;491;gcc7554a049_0_358:notes">
            <a:extLst>
              <a:ext uri="{FF2B5EF4-FFF2-40B4-BE49-F238E27FC236}">
                <a16:creationId xmlns:a16="http://schemas.microsoft.com/office/drawing/2014/main" id="{7E462E24-9912-86E2-0F33-AA1B273C5F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c7554a049_0_358:notes">
            <a:extLst>
              <a:ext uri="{FF2B5EF4-FFF2-40B4-BE49-F238E27FC236}">
                <a16:creationId xmlns:a16="http://schemas.microsoft.com/office/drawing/2014/main" id="{450EF09C-39B6-D94D-1D35-39699904F1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80677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a:extLst>
            <a:ext uri="{FF2B5EF4-FFF2-40B4-BE49-F238E27FC236}">
              <a16:creationId xmlns:a16="http://schemas.microsoft.com/office/drawing/2014/main" id="{124E01F0-0C75-DC0C-E487-6CDD8DCE4E0C}"/>
            </a:ext>
          </a:extLst>
        </p:cNvPr>
        <p:cNvGrpSpPr/>
        <p:nvPr/>
      </p:nvGrpSpPr>
      <p:grpSpPr>
        <a:xfrm>
          <a:off x="0" y="0"/>
          <a:ext cx="0" cy="0"/>
          <a:chOff x="0" y="0"/>
          <a:chExt cx="0" cy="0"/>
        </a:xfrm>
      </p:grpSpPr>
      <p:sp>
        <p:nvSpPr>
          <p:cNvPr id="491" name="Google Shape;491;gcc7554a049_0_358:notes">
            <a:extLst>
              <a:ext uri="{FF2B5EF4-FFF2-40B4-BE49-F238E27FC236}">
                <a16:creationId xmlns:a16="http://schemas.microsoft.com/office/drawing/2014/main" id="{92BBDEB0-18DA-CB6A-8B64-B6063D164C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c7554a049_0_358:notes">
            <a:extLst>
              <a:ext uri="{FF2B5EF4-FFF2-40B4-BE49-F238E27FC236}">
                <a16:creationId xmlns:a16="http://schemas.microsoft.com/office/drawing/2014/main" id="{89DDAC12-F817-4BCC-6942-E01E580A49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18014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a:extLst>
            <a:ext uri="{FF2B5EF4-FFF2-40B4-BE49-F238E27FC236}">
              <a16:creationId xmlns:a16="http://schemas.microsoft.com/office/drawing/2014/main" id="{51DD8906-8E13-CE36-3125-8975FEEC7F35}"/>
            </a:ext>
          </a:extLst>
        </p:cNvPr>
        <p:cNvGrpSpPr/>
        <p:nvPr/>
      </p:nvGrpSpPr>
      <p:grpSpPr>
        <a:xfrm>
          <a:off x="0" y="0"/>
          <a:ext cx="0" cy="0"/>
          <a:chOff x="0" y="0"/>
          <a:chExt cx="0" cy="0"/>
        </a:xfrm>
      </p:grpSpPr>
      <p:sp>
        <p:nvSpPr>
          <p:cNvPr id="491" name="Google Shape;491;gcc7554a049_0_358:notes">
            <a:extLst>
              <a:ext uri="{FF2B5EF4-FFF2-40B4-BE49-F238E27FC236}">
                <a16:creationId xmlns:a16="http://schemas.microsoft.com/office/drawing/2014/main" id="{4DA76F8F-6254-88C9-D864-939D0BDDD0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c7554a049_0_358:notes">
            <a:extLst>
              <a:ext uri="{FF2B5EF4-FFF2-40B4-BE49-F238E27FC236}">
                <a16:creationId xmlns:a16="http://schemas.microsoft.com/office/drawing/2014/main" id="{1845415C-F002-F3B1-591F-FDCAE9687E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8183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a:extLst>
            <a:ext uri="{FF2B5EF4-FFF2-40B4-BE49-F238E27FC236}">
              <a16:creationId xmlns:a16="http://schemas.microsoft.com/office/drawing/2014/main" id="{C6F2A80E-335F-554F-0B56-07CF2B4C37C0}"/>
            </a:ext>
          </a:extLst>
        </p:cNvPr>
        <p:cNvGrpSpPr/>
        <p:nvPr/>
      </p:nvGrpSpPr>
      <p:grpSpPr>
        <a:xfrm>
          <a:off x="0" y="0"/>
          <a:ext cx="0" cy="0"/>
          <a:chOff x="0" y="0"/>
          <a:chExt cx="0" cy="0"/>
        </a:xfrm>
      </p:grpSpPr>
      <p:sp>
        <p:nvSpPr>
          <p:cNvPr id="491" name="Google Shape;491;gcc7554a049_0_358:notes">
            <a:extLst>
              <a:ext uri="{FF2B5EF4-FFF2-40B4-BE49-F238E27FC236}">
                <a16:creationId xmlns:a16="http://schemas.microsoft.com/office/drawing/2014/main" id="{596C0106-CE2C-9511-2ED9-2E05C959B6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c7554a049_0_358:notes">
            <a:extLst>
              <a:ext uri="{FF2B5EF4-FFF2-40B4-BE49-F238E27FC236}">
                <a16:creationId xmlns:a16="http://schemas.microsoft.com/office/drawing/2014/main" id="{CB3CCEAA-0D3E-793B-6449-D027863DAF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48048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a:extLst>
            <a:ext uri="{FF2B5EF4-FFF2-40B4-BE49-F238E27FC236}">
              <a16:creationId xmlns:a16="http://schemas.microsoft.com/office/drawing/2014/main" id="{6EFA4AA4-A1A0-5F8D-5CDF-4F17562020DC}"/>
            </a:ext>
          </a:extLst>
        </p:cNvPr>
        <p:cNvGrpSpPr/>
        <p:nvPr/>
      </p:nvGrpSpPr>
      <p:grpSpPr>
        <a:xfrm>
          <a:off x="0" y="0"/>
          <a:ext cx="0" cy="0"/>
          <a:chOff x="0" y="0"/>
          <a:chExt cx="0" cy="0"/>
        </a:xfrm>
      </p:grpSpPr>
      <p:sp>
        <p:nvSpPr>
          <p:cNvPr id="491" name="Google Shape;491;gcc7554a049_0_358:notes">
            <a:extLst>
              <a:ext uri="{FF2B5EF4-FFF2-40B4-BE49-F238E27FC236}">
                <a16:creationId xmlns:a16="http://schemas.microsoft.com/office/drawing/2014/main" id="{AE989A5D-23DD-D7ED-7AD2-61308FA31D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c7554a049_0_358:notes">
            <a:extLst>
              <a:ext uri="{FF2B5EF4-FFF2-40B4-BE49-F238E27FC236}">
                <a16:creationId xmlns:a16="http://schemas.microsoft.com/office/drawing/2014/main" id="{BAE3DE26-257B-3A62-98EA-7D426796FA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46930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a:extLst>
            <a:ext uri="{FF2B5EF4-FFF2-40B4-BE49-F238E27FC236}">
              <a16:creationId xmlns:a16="http://schemas.microsoft.com/office/drawing/2014/main" id="{13F16A8C-DFAF-413F-9DEC-49D713022D31}"/>
            </a:ext>
          </a:extLst>
        </p:cNvPr>
        <p:cNvGrpSpPr/>
        <p:nvPr/>
      </p:nvGrpSpPr>
      <p:grpSpPr>
        <a:xfrm>
          <a:off x="0" y="0"/>
          <a:ext cx="0" cy="0"/>
          <a:chOff x="0" y="0"/>
          <a:chExt cx="0" cy="0"/>
        </a:xfrm>
      </p:grpSpPr>
      <p:sp>
        <p:nvSpPr>
          <p:cNvPr id="491" name="Google Shape;491;gcc7554a049_0_358:notes">
            <a:extLst>
              <a:ext uri="{FF2B5EF4-FFF2-40B4-BE49-F238E27FC236}">
                <a16:creationId xmlns:a16="http://schemas.microsoft.com/office/drawing/2014/main" id="{96EAC9E6-79E9-989E-DD2E-303F3EFE18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c7554a049_0_358:notes">
            <a:extLst>
              <a:ext uri="{FF2B5EF4-FFF2-40B4-BE49-F238E27FC236}">
                <a16:creationId xmlns:a16="http://schemas.microsoft.com/office/drawing/2014/main" id="{DDD6FB61-8966-EF68-8FE2-53B344B9FB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3685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a:extLst>
            <a:ext uri="{FF2B5EF4-FFF2-40B4-BE49-F238E27FC236}">
              <a16:creationId xmlns:a16="http://schemas.microsoft.com/office/drawing/2014/main" id="{44960AD9-D6A5-E499-C04B-0F83965EFF77}"/>
            </a:ext>
          </a:extLst>
        </p:cNvPr>
        <p:cNvGrpSpPr/>
        <p:nvPr/>
      </p:nvGrpSpPr>
      <p:grpSpPr>
        <a:xfrm>
          <a:off x="0" y="0"/>
          <a:ext cx="0" cy="0"/>
          <a:chOff x="0" y="0"/>
          <a:chExt cx="0" cy="0"/>
        </a:xfrm>
      </p:grpSpPr>
      <p:sp>
        <p:nvSpPr>
          <p:cNvPr id="491" name="Google Shape;491;gcc7554a049_0_358:notes">
            <a:extLst>
              <a:ext uri="{FF2B5EF4-FFF2-40B4-BE49-F238E27FC236}">
                <a16:creationId xmlns:a16="http://schemas.microsoft.com/office/drawing/2014/main" id="{1CA278CF-CFEA-26D8-B8E8-ABF6B00827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c7554a049_0_358:notes">
            <a:extLst>
              <a:ext uri="{FF2B5EF4-FFF2-40B4-BE49-F238E27FC236}">
                <a16:creationId xmlns:a16="http://schemas.microsoft.com/office/drawing/2014/main" id="{1E7BC75D-3BB7-CCCB-1135-CAD715EDB3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36148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cf7a3c50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8" name="Google Shape;498;gcf7a3c50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105aad17dc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105aad17dc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040000" y="3377100"/>
            <a:ext cx="7064100" cy="4419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1" name="Google Shape;11;p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 name="Google Shape;12;p2"/>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 name="Google Shape;13;p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 name="Google Shape;14;p2"/>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713225" y="445025"/>
            <a:ext cx="4711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5" name="Google Shape;25;p4"/>
          <p:cNvSpPr txBox="1">
            <a:spLocks noGrp="1"/>
          </p:cNvSpPr>
          <p:nvPr>
            <p:ph type="body" idx="1"/>
          </p:nvPr>
        </p:nvSpPr>
        <p:spPr>
          <a:xfrm>
            <a:off x="713250" y="1272925"/>
            <a:ext cx="7717500" cy="3295800"/>
          </a:xfrm>
          <a:prstGeom prst="rect">
            <a:avLst/>
          </a:prstGeom>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Lato"/>
              <a:buChar char="●"/>
              <a:defRPr sz="1100"/>
            </a:lvl1pPr>
            <a:lvl2pPr marL="914400" lvl="1" indent="-317500">
              <a:spcBef>
                <a:spcPts val="0"/>
              </a:spcBef>
              <a:spcAft>
                <a:spcPts val="0"/>
              </a:spcAft>
              <a:buClr>
                <a:schemeClr val="dk1"/>
              </a:buClr>
              <a:buSzPts val="1400"/>
              <a:buFont typeface="Lato"/>
              <a:buChar char="○"/>
              <a:defRPr/>
            </a:lvl2pPr>
            <a:lvl3pPr marL="1371600" lvl="2" indent="-317500">
              <a:spcBef>
                <a:spcPts val="0"/>
              </a:spcBef>
              <a:spcAft>
                <a:spcPts val="0"/>
              </a:spcAft>
              <a:buClr>
                <a:schemeClr val="dk1"/>
              </a:buClr>
              <a:buSzPts val="1400"/>
              <a:buFont typeface="Lato"/>
              <a:buChar char="■"/>
              <a:defRPr/>
            </a:lvl3pPr>
            <a:lvl4pPr marL="1828800" lvl="3" indent="-317500">
              <a:spcBef>
                <a:spcPts val="0"/>
              </a:spcBef>
              <a:spcAft>
                <a:spcPts val="0"/>
              </a:spcAft>
              <a:buClr>
                <a:schemeClr val="dk1"/>
              </a:buClr>
              <a:buSzPts val="1400"/>
              <a:buFont typeface="Lato"/>
              <a:buChar char="●"/>
              <a:defRPr/>
            </a:lvl4pPr>
            <a:lvl5pPr marL="2286000" lvl="4" indent="-317500">
              <a:spcBef>
                <a:spcPts val="0"/>
              </a:spcBef>
              <a:spcAft>
                <a:spcPts val="0"/>
              </a:spcAft>
              <a:buClr>
                <a:schemeClr val="dk1"/>
              </a:buClr>
              <a:buSzPts val="1400"/>
              <a:buFont typeface="Lato"/>
              <a:buChar char="○"/>
              <a:defRPr/>
            </a:lvl5pPr>
            <a:lvl6pPr marL="2743200" lvl="5" indent="-317500">
              <a:spcBef>
                <a:spcPts val="0"/>
              </a:spcBef>
              <a:spcAft>
                <a:spcPts val="0"/>
              </a:spcAft>
              <a:buClr>
                <a:schemeClr val="dk1"/>
              </a:buClr>
              <a:buSzPts val="1400"/>
              <a:buFont typeface="Lato"/>
              <a:buChar char="■"/>
              <a:defRPr/>
            </a:lvl6pPr>
            <a:lvl7pPr marL="3200400" lvl="6" indent="-317500">
              <a:spcBef>
                <a:spcPts val="0"/>
              </a:spcBef>
              <a:spcAft>
                <a:spcPts val="0"/>
              </a:spcAft>
              <a:buClr>
                <a:schemeClr val="dk1"/>
              </a:buClr>
              <a:buSzPts val="1400"/>
              <a:buFont typeface="Lato"/>
              <a:buChar char="●"/>
              <a:defRPr/>
            </a:lvl7pPr>
            <a:lvl8pPr marL="3657600" lvl="7" indent="-317500">
              <a:spcBef>
                <a:spcPts val="0"/>
              </a:spcBef>
              <a:spcAft>
                <a:spcPts val="0"/>
              </a:spcAft>
              <a:buClr>
                <a:schemeClr val="dk1"/>
              </a:buClr>
              <a:buSzPts val="1400"/>
              <a:buFont typeface="Lato"/>
              <a:buChar char="○"/>
              <a:defRPr/>
            </a:lvl8pPr>
            <a:lvl9pPr marL="4114800" lvl="8" indent="-317500">
              <a:spcBef>
                <a:spcPts val="0"/>
              </a:spcBef>
              <a:spcAft>
                <a:spcPts val="0"/>
              </a:spcAft>
              <a:buClr>
                <a:schemeClr val="dk1"/>
              </a:buClr>
              <a:buSzPts val="1400"/>
              <a:buFont typeface="Lato"/>
              <a:buChar char="■"/>
              <a:defRPr/>
            </a:lvl9pPr>
          </a:lstStyle>
          <a:p>
            <a:endParaRPr/>
          </a:p>
        </p:txBody>
      </p:sp>
      <p:cxnSp>
        <p:nvCxnSpPr>
          <p:cNvPr id="26" name="Google Shape;26;p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7" name="Google Shape;27;p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8" name="Google Shape;28;p4"/>
          <p:cNvCxnSpPr/>
          <p:nvPr/>
        </p:nvCxnSpPr>
        <p:spPr>
          <a:xfrm>
            <a:off x="6884900" y="-113600"/>
            <a:ext cx="2565600" cy="1306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
        <p:cNvGrpSpPr/>
        <p:nvPr/>
      </p:nvGrpSpPr>
      <p:grpSpPr>
        <a:xfrm>
          <a:off x="0" y="0"/>
          <a:ext cx="0" cy="0"/>
          <a:chOff x="0" y="0"/>
          <a:chExt cx="0" cy="0"/>
        </a:xfrm>
      </p:grpSpPr>
      <p:sp>
        <p:nvSpPr>
          <p:cNvPr id="55" name="Google Shape;55;p9"/>
          <p:cNvSpPr txBox="1">
            <a:spLocks noGrp="1"/>
          </p:cNvSpPr>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56" name="Google Shape;56;p9"/>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57" name="Google Shape;57;p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8" name="Google Shape;58;p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9" name="Google Shape;59;p9"/>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713225" y="445025"/>
            <a:ext cx="35838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75" name="Google Shape;75;p13"/>
          <p:cNvSpPr txBox="1">
            <a:spLocks noGrp="1"/>
          </p:cNvSpPr>
          <p:nvPr>
            <p:ph type="subTitle" idx="1"/>
          </p:nvPr>
        </p:nvSpPr>
        <p:spPr>
          <a:xfrm>
            <a:off x="5001000" y="194292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76" name="Google Shape;76;p13"/>
          <p:cNvSpPr txBox="1">
            <a:spLocks noGrp="1"/>
          </p:cNvSpPr>
          <p:nvPr>
            <p:ph type="subTitle" idx="2"/>
          </p:nvPr>
        </p:nvSpPr>
        <p:spPr>
          <a:xfrm>
            <a:off x="5001000" y="2255100"/>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7" name="Google Shape;77;p13"/>
          <p:cNvSpPr txBox="1">
            <a:spLocks noGrp="1"/>
          </p:cNvSpPr>
          <p:nvPr>
            <p:ph type="subTitle" idx="3"/>
          </p:nvPr>
        </p:nvSpPr>
        <p:spPr>
          <a:xfrm>
            <a:off x="1655200" y="194292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78" name="Google Shape;78;p13"/>
          <p:cNvSpPr txBox="1">
            <a:spLocks noGrp="1"/>
          </p:cNvSpPr>
          <p:nvPr>
            <p:ph type="subTitle" idx="4"/>
          </p:nvPr>
        </p:nvSpPr>
        <p:spPr>
          <a:xfrm>
            <a:off x="1655200" y="2255100"/>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9" name="Google Shape;79;p13"/>
          <p:cNvSpPr txBox="1">
            <a:spLocks noGrp="1"/>
          </p:cNvSpPr>
          <p:nvPr>
            <p:ph type="subTitle" idx="5"/>
          </p:nvPr>
        </p:nvSpPr>
        <p:spPr>
          <a:xfrm>
            <a:off x="5001000" y="372395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80" name="Google Shape;80;p13"/>
          <p:cNvSpPr txBox="1">
            <a:spLocks noGrp="1"/>
          </p:cNvSpPr>
          <p:nvPr>
            <p:ph type="subTitle" idx="6"/>
          </p:nvPr>
        </p:nvSpPr>
        <p:spPr>
          <a:xfrm>
            <a:off x="5001000" y="4036125"/>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1" name="Google Shape;81;p13"/>
          <p:cNvSpPr txBox="1">
            <a:spLocks noGrp="1"/>
          </p:cNvSpPr>
          <p:nvPr>
            <p:ph type="subTitle" idx="7"/>
          </p:nvPr>
        </p:nvSpPr>
        <p:spPr>
          <a:xfrm>
            <a:off x="1655200" y="372395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82" name="Google Shape;82;p13"/>
          <p:cNvSpPr txBox="1">
            <a:spLocks noGrp="1"/>
          </p:cNvSpPr>
          <p:nvPr>
            <p:ph type="subTitle" idx="8"/>
          </p:nvPr>
        </p:nvSpPr>
        <p:spPr>
          <a:xfrm>
            <a:off x="1655250" y="4036125"/>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3" name="Google Shape;83;p13"/>
          <p:cNvSpPr txBox="1">
            <a:spLocks noGrp="1"/>
          </p:cNvSpPr>
          <p:nvPr>
            <p:ph type="title" idx="9" hasCustomPrompt="1"/>
          </p:nvPr>
        </p:nvSpPr>
        <p:spPr>
          <a:xfrm>
            <a:off x="2378650" y="130358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4" name="Google Shape;84;p13"/>
          <p:cNvSpPr txBox="1">
            <a:spLocks noGrp="1"/>
          </p:cNvSpPr>
          <p:nvPr>
            <p:ph type="title" idx="13" hasCustomPrompt="1"/>
          </p:nvPr>
        </p:nvSpPr>
        <p:spPr>
          <a:xfrm>
            <a:off x="5724450" y="130358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5" name="Google Shape;85;p13"/>
          <p:cNvSpPr txBox="1">
            <a:spLocks noGrp="1"/>
          </p:cNvSpPr>
          <p:nvPr>
            <p:ph type="title" idx="14" hasCustomPrompt="1"/>
          </p:nvPr>
        </p:nvSpPr>
        <p:spPr>
          <a:xfrm>
            <a:off x="2378700" y="308273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6" name="Google Shape;86;p13"/>
          <p:cNvSpPr txBox="1">
            <a:spLocks noGrp="1"/>
          </p:cNvSpPr>
          <p:nvPr>
            <p:ph type="title" idx="15" hasCustomPrompt="1"/>
          </p:nvPr>
        </p:nvSpPr>
        <p:spPr>
          <a:xfrm>
            <a:off x="5724450" y="308273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cxnSp>
        <p:nvCxnSpPr>
          <p:cNvPr id="87" name="Google Shape;87;p1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88" name="Google Shape;88;p1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1">
  <p:cSld name="CUSTOM_12">
    <p:spTree>
      <p:nvGrpSpPr>
        <p:cNvPr id="1" name="Shape 118"/>
        <p:cNvGrpSpPr/>
        <p:nvPr/>
      </p:nvGrpSpPr>
      <p:grpSpPr>
        <a:xfrm>
          <a:off x="0" y="0"/>
          <a:ext cx="0" cy="0"/>
          <a:chOff x="0" y="0"/>
          <a:chExt cx="0" cy="0"/>
        </a:xfrm>
      </p:grpSpPr>
      <p:sp>
        <p:nvSpPr>
          <p:cNvPr id="119" name="Google Shape;119;p16"/>
          <p:cNvSpPr txBox="1">
            <a:spLocks noGrp="1"/>
          </p:cNvSpPr>
          <p:nvPr>
            <p:ph type="title"/>
          </p:nvPr>
        </p:nvSpPr>
        <p:spPr>
          <a:xfrm>
            <a:off x="699900" y="2821263"/>
            <a:ext cx="4323000" cy="497700"/>
          </a:xfrm>
          <a:prstGeom prst="rect">
            <a:avLst/>
          </a:prstGeom>
        </p:spPr>
        <p:txBody>
          <a:bodyPr spcFirstLastPara="1" wrap="square" lIns="91425" tIns="91425" rIns="91425" bIns="91425" anchor="t" anchorCtr="0">
            <a:noAutofit/>
          </a:bodyPr>
          <a:lstStyle>
            <a:lvl1pPr lvl="0" rtl="0">
              <a:spcBef>
                <a:spcPts val="0"/>
              </a:spcBef>
              <a:spcAft>
                <a:spcPts val="0"/>
              </a:spcAft>
              <a:buSzPts val="4800"/>
              <a:buNone/>
              <a:defRPr/>
            </a:lvl1pPr>
            <a:lvl2pPr lvl="1" algn="ctr" rtl="0">
              <a:spcBef>
                <a:spcPts val="0"/>
              </a:spcBef>
              <a:spcAft>
                <a:spcPts val="0"/>
              </a:spcAft>
              <a:buSzPts val="4800"/>
              <a:buFont typeface="Crimson Text"/>
              <a:buNone/>
              <a:defRPr sz="4800">
                <a:latin typeface="Crimson Text"/>
                <a:ea typeface="Crimson Text"/>
                <a:cs typeface="Crimson Text"/>
                <a:sym typeface="Crimson Text"/>
              </a:defRPr>
            </a:lvl2pPr>
            <a:lvl3pPr lvl="2" algn="ctr" rtl="0">
              <a:spcBef>
                <a:spcPts val="0"/>
              </a:spcBef>
              <a:spcAft>
                <a:spcPts val="0"/>
              </a:spcAft>
              <a:buSzPts val="4800"/>
              <a:buFont typeface="Crimson Text"/>
              <a:buNone/>
              <a:defRPr sz="4800">
                <a:latin typeface="Crimson Text"/>
                <a:ea typeface="Crimson Text"/>
                <a:cs typeface="Crimson Text"/>
                <a:sym typeface="Crimson Text"/>
              </a:defRPr>
            </a:lvl3pPr>
            <a:lvl4pPr lvl="3" algn="ctr" rtl="0">
              <a:spcBef>
                <a:spcPts val="0"/>
              </a:spcBef>
              <a:spcAft>
                <a:spcPts val="0"/>
              </a:spcAft>
              <a:buSzPts val="4800"/>
              <a:buFont typeface="Crimson Text"/>
              <a:buNone/>
              <a:defRPr sz="4800">
                <a:latin typeface="Crimson Text"/>
                <a:ea typeface="Crimson Text"/>
                <a:cs typeface="Crimson Text"/>
                <a:sym typeface="Crimson Text"/>
              </a:defRPr>
            </a:lvl4pPr>
            <a:lvl5pPr lvl="4" algn="ctr" rtl="0">
              <a:spcBef>
                <a:spcPts val="0"/>
              </a:spcBef>
              <a:spcAft>
                <a:spcPts val="0"/>
              </a:spcAft>
              <a:buSzPts val="4800"/>
              <a:buFont typeface="Crimson Text"/>
              <a:buNone/>
              <a:defRPr sz="4800">
                <a:latin typeface="Crimson Text"/>
                <a:ea typeface="Crimson Text"/>
                <a:cs typeface="Crimson Text"/>
                <a:sym typeface="Crimson Text"/>
              </a:defRPr>
            </a:lvl5pPr>
            <a:lvl6pPr lvl="5" algn="ctr" rtl="0">
              <a:spcBef>
                <a:spcPts val="0"/>
              </a:spcBef>
              <a:spcAft>
                <a:spcPts val="0"/>
              </a:spcAft>
              <a:buSzPts val="4800"/>
              <a:buFont typeface="Crimson Text"/>
              <a:buNone/>
              <a:defRPr sz="4800">
                <a:latin typeface="Crimson Text"/>
                <a:ea typeface="Crimson Text"/>
                <a:cs typeface="Crimson Text"/>
                <a:sym typeface="Crimson Text"/>
              </a:defRPr>
            </a:lvl6pPr>
            <a:lvl7pPr lvl="6" algn="ctr" rtl="0">
              <a:spcBef>
                <a:spcPts val="0"/>
              </a:spcBef>
              <a:spcAft>
                <a:spcPts val="0"/>
              </a:spcAft>
              <a:buSzPts val="4800"/>
              <a:buFont typeface="Crimson Text"/>
              <a:buNone/>
              <a:defRPr sz="4800">
                <a:latin typeface="Crimson Text"/>
                <a:ea typeface="Crimson Text"/>
                <a:cs typeface="Crimson Text"/>
                <a:sym typeface="Crimson Text"/>
              </a:defRPr>
            </a:lvl7pPr>
            <a:lvl8pPr lvl="7" algn="ctr" rtl="0">
              <a:spcBef>
                <a:spcPts val="0"/>
              </a:spcBef>
              <a:spcAft>
                <a:spcPts val="0"/>
              </a:spcAft>
              <a:buSzPts val="4800"/>
              <a:buFont typeface="Crimson Text"/>
              <a:buNone/>
              <a:defRPr sz="4800">
                <a:latin typeface="Crimson Text"/>
                <a:ea typeface="Crimson Text"/>
                <a:cs typeface="Crimson Text"/>
                <a:sym typeface="Crimson Text"/>
              </a:defRPr>
            </a:lvl8pPr>
            <a:lvl9pPr lvl="8" algn="ctr" rtl="0">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120" name="Google Shape;120;p16"/>
          <p:cNvSpPr txBox="1">
            <a:spLocks noGrp="1"/>
          </p:cNvSpPr>
          <p:nvPr>
            <p:ph type="subTitle" idx="1"/>
          </p:nvPr>
        </p:nvSpPr>
        <p:spPr>
          <a:xfrm>
            <a:off x="699900" y="1675902"/>
            <a:ext cx="5458200" cy="99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20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21" name="Google Shape;121;p1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2" name="Google Shape;122;p1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3" name="Google Shape;123;p16"/>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24" name="Google Shape;124;p16"/>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455"/>
        <p:cNvGrpSpPr/>
        <p:nvPr/>
      </p:nvGrpSpPr>
      <p:grpSpPr>
        <a:xfrm>
          <a:off x="0" y="0"/>
          <a:ext cx="0" cy="0"/>
          <a:chOff x="0" y="0"/>
          <a:chExt cx="0" cy="0"/>
        </a:xfrm>
      </p:grpSpPr>
      <p:cxnSp>
        <p:nvCxnSpPr>
          <p:cNvPr id="456" name="Google Shape;456;p5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7" name="Google Shape;457;p5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458"/>
        <p:cNvGrpSpPr/>
        <p:nvPr/>
      </p:nvGrpSpPr>
      <p:grpSpPr>
        <a:xfrm>
          <a:off x="0" y="0"/>
          <a:ext cx="0" cy="0"/>
          <a:chOff x="0" y="0"/>
          <a:chExt cx="0" cy="0"/>
        </a:xfrm>
      </p:grpSpPr>
      <p:cxnSp>
        <p:nvCxnSpPr>
          <p:cNvPr id="459" name="Google Shape;459;p5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0" name="Google Shape;460;p5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1" name="Google Shape;461;p52"/>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2" name="Google Shape;462;p52"/>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Shape 463"/>
        <p:cNvGrpSpPr/>
        <p:nvPr/>
      </p:nvGrpSpPr>
      <p:grpSpPr>
        <a:xfrm>
          <a:off x="0" y="0"/>
          <a:ext cx="0" cy="0"/>
          <a:chOff x="0" y="0"/>
          <a:chExt cx="0" cy="0"/>
        </a:xfrm>
      </p:grpSpPr>
      <p:cxnSp>
        <p:nvCxnSpPr>
          <p:cNvPr id="464" name="Google Shape;464;p5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5" name="Google Shape;465;p5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6" name="Google Shape;466;p53"/>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Shape 467"/>
        <p:cNvGrpSpPr/>
        <p:nvPr/>
      </p:nvGrpSpPr>
      <p:grpSpPr>
        <a:xfrm>
          <a:off x="0" y="0"/>
          <a:ext cx="0" cy="0"/>
          <a:chOff x="0" y="0"/>
          <a:chExt cx="0" cy="0"/>
        </a:xfrm>
      </p:grpSpPr>
      <p:cxnSp>
        <p:nvCxnSpPr>
          <p:cNvPr id="468" name="Google Shape;468;p5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9" name="Google Shape;469;p5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70" name="Google Shape;470;p5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1" name="Google Shape;471;p5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2" name="Google Shape;472;p54"/>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3" name="Google Shape;473;p54"/>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5" r:id="rId3"/>
    <p:sldLayoutId id="2147483658" r:id="rId4"/>
    <p:sldLayoutId id="2147483659" r:id="rId5"/>
    <p:sldLayoutId id="2147483662" r:id="rId6"/>
    <p:sldLayoutId id="2147483697" r:id="rId7"/>
    <p:sldLayoutId id="2147483698" r:id="rId8"/>
    <p:sldLayoutId id="2147483699" r:id="rId9"/>
    <p:sldLayoutId id="214748370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60"/>
          <p:cNvSpPr txBox="1">
            <a:spLocks noGrp="1"/>
          </p:cNvSpPr>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p>
            <a:pPr lvl="0"/>
            <a:r>
              <a:rPr lang="en-US" sz="6600" dirty="0" err="1"/>
              <a:t>VendorLog</a:t>
            </a:r>
            <a:endParaRPr dirty="0"/>
          </a:p>
        </p:txBody>
      </p:sp>
      <p:sp>
        <p:nvSpPr>
          <p:cNvPr id="489" name="Google Shape;489;p60"/>
          <p:cNvSpPr txBox="1">
            <a:spLocks noGrp="1"/>
          </p:cNvSpPr>
          <p:nvPr>
            <p:ph type="subTitle" idx="1"/>
          </p:nvPr>
        </p:nvSpPr>
        <p:spPr>
          <a:xfrm>
            <a:off x="1040000" y="3377100"/>
            <a:ext cx="7064100" cy="44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solidFill>
                  <a:schemeClr val="dk1"/>
                </a:solidFill>
              </a:rPr>
              <a:t>T</a:t>
            </a:r>
            <a:r>
              <a:rPr lang="en-US" altLang="zh-CN" dirty="0" err="1">
                <a:solidFill>
                  <a:schemeClr val="dk1"/>
                </a:solidFill>
              </a:rPr>
              <a:t>eam</a:t>
            </a:r>
            <a:r>
              <a:rPr lang="en-US" altLang="zh-CN" dirty="0">
                <a:solidFill>
                  <a:schemeClr val="dk1"/>
                </a:solidFill>
              </a:rPr>
              <a:t> 25(Ziyang Xu)</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88"/>
                                        </p:tgtEl>
                                        <p:attrNameLst>
                                          <p:attrName>style.visibility</p:attrName>
                                        </p:attrNameLst>
                                      </p:cBhvr>
                                      <p:to>
                                        <p:strVal val="visible"/>
                                      </p:to>
                                    </p:set>
                                    <p:anim calcmode="lin" valueType="num">
                                      <p:cBhvr additive="base">
                                        <p:cTn id="7" dur="1000"/>
                                        <p:tgtEl>
                                          <p:spTgt spid="488"/>
                                        </p:tgtEl>
                                        <p:attrNameLst>
                                          <p:attrName>ppt_x</p:attrName>
                                        </p:attrNameLst>
                                      </p:cBhvr>
                                      <p:tavLst>
                                        <p:tav tm="0">
                                          <p:val>
                                            <p:strVal val="#ppt_x-1"/>
                                          </p:val>
                                        </p:tav>
                                        <p:tav tm="100000">
                                          <p:val>
                                            <p:strVal val="#ppt_x"/>
                                          </p:val>
                                        </p:tav>
                                      </p:tavLst>
                                    </p:anim>
                                  </p:childTnLst>
                                </p:cTn>
                              </p:par>
                              <p:par>
                                <p:cTn id="8" presetID="2" presetClass="entr" presetSubtype="4" fill="hold" nodeType="withEffect">
                                  <p:stCondLst>
                                    <p:cond delay="0"/>
                                  </p:stCondLst>
                                  <p:childTnLst>
                                    <p:set>
                                      <p:cBhvr>
                                        <p:cTn id="9" dur="1" fill="hold">
                                          <p:stCondLst>
                                            <p:cond delay="0"/>
                                          </p:stCondLst>
                                        </p:cTn>
                                        <p:tgtEl>
                                          <p:spTgt spid="489"/>
                                        </p:tgtEl>
                                        <p:attrNameLst>
                                          <p:attrName>style.visibility</p:attrName>
                                        </p:attrNameLst>
                                      </p:cBhvr>
                                      <p:to>
                                        <p:strVal val="visible"/>
                                      </p:to>
                                    </p:set>
                                    <p:anim calcmode="lin" valueType="num">
                                      <p:cBhvr additive="base">
                                        <p:cTn id="10" dur="1000"/>
                                        <p:tgtEl>
                                          <p:spTgt spid="48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61"/>
          <p:cNvSpPr txBox="1">
            <a:spLocks noGrp="1"/>
          </p:cNvSpPr>
          <p:nvPr>
            <p:ph type="title"/>
          </p:nvPr>
        </p:nvSpPr>
        <p:spPr>
          <a:xfrm>
            <a:off x="713225" y="445025"/>
            <a:ext cx="4711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LogIn Page:</a:t>
            </a:r>
            <a:endParaRPr b="1" dirty="0"/>
          </a:p>
        </p:txBody>
      </p:sp>
      <p:sp>
        <p:nvSpPr>
          <p:cNvPr id="495" name="Google Shape;495;p61"/>
          <p:cNvSpPr txBox="1">
            <a:spLocks noGrp="1"/>
          </p:cNvSpPr>
          <p:nvPr>
            <p:ph type="body" idx="1"/>
          </p:nvPr>
        </p:nvSpPr>
        <p:spPr>
          <a:xfrm>
            <a:off x="713250" y="1242086"/>
            <a:ext cx="6508325" cy="3326639"/>
          </a:xfrm>
          <a:prstGeom prst="rect">
            <a:avLst/>
          </a:prstGeom>
        </p:spPr>
        <p:txBody>
          <a:bodyPr spcFirstLastPara="1" wrap="square" lIns="91425" tIns="91425" rIns="91425" bIns="91425" anchor="t" anchorCtr="0">
            <a:noAutofit/>
          </a:bodyPr>
          <a:lstStyle/>
          <a:p>
            <a:pPr marL="0" lvl="0" indent="0">
              <a:buSzPts val="1100"/>
              <a:buNone/>
            </a:pPr>
            <a:r>
              <a:rPr lang="en-US" dirty="0"/>
              <a:t>This screen is the </a:t>
            </a:r>
            <a:r>
              <a:rPr lang="en-US" b="1" dirty="0"/>
              <a:t>login page of the </a:t>
            </a:r>
            <a:r>
              <a:rPr lang="en-US" b="1" dirty="0" err="1"/>
              <a:t>VendorLog</a:t>
            </a:r>
            <a:r>
              <a:rPr lang="en-US" b="1" dirty="0"/>
              <a:t> application</a:t>
            </a:r>
            <a:r>
              <a:rPr lang="en-US" dirty="0"/>
              <a:t>. Users can:</a:t>
            </a:r>
            <a:br>
              <a:rPr lang="en-US" dirty="0"/>
            </a:br>
            <a:endParaRPr lang="en-US" dirty="0"/>
          </a:p>
          <a:p>
            <a:pPr marL="171450" indent="-171450">
              <a:buSzPts val="1100"/>
            </a:pPr>
            <a:r>
              <a:rPr lang="en-US" b="1" dirty="0"/>
              <a:t>Enter their email address</a:t>
            </a:r>
            <a:br>
              <a:rPr lang="en-US" dirty="0"/>
            </a:br>
            <a:r>
              <a:rPr lang="en-US" dirty="0"/>
              <a:t>Use their registered email to sign in.</a:t>
            </a:r>
          </a:p>
          <a:p>
            <a:pPr marL="171450" indent="-171450">
              <a:buSzPts val="1100"/>
            </a:pPr>
            <a:r>
              <a:rPr lang="en-US" b="1" dirty="0"/>
              <a:t>Enter their password</a:t>
            </a:r>
          </a:p>
          <a:p>
            <a:pPr marL="0" indent="0">
              <a:buSzPts val="1100"/>
              <a:buNone/>
            </a:pPr>
            <a:r>
              <a:rPr lang="en-US" dirty="0"/>
              <a:t>     Input the corresponding account password to complete authentication.</a:t>
            </a:r>
          </a:p>
          <a:p>
            <a:pPr marL="171450" indent="-171450">
              <a:buSzPts val="1100"/>
            </a:pPr>
            <a:r>
              <a:rPr lang="en-US" b="1" dirty="0"/>
              <a:t>Tap the “Log In” button to access the system</a:t>
            </a:r>
          </a:p>
          <a:p>
            <a:pPr marL="0" indent="0">
              <a:buSzPts val="1100"/>
              <a:buNone/>
            </a:pPr>
            <a:r>
              <a:rPr lang="en-US" dirty="0"/>
              <a:t>     Once authenticated, users will enter </a:t>
            </a:r>
            <a:r>
              <a:rPr lang="en-US" dirty="0" err="1"/>
              <a:t>VendorLog’s</a:t>
            </a:r>
            <a:r>
              <a:rPr lang="en-US" dirty="0"/>
              <a:t> main interface and begin using features such as     budgeting, expense tracking, and merchant insights.</a:t>
            </a:r>
            <a:endParaRPr lang="en-US" b="1" dirty="0"/>
          </a:p>
          <a:p>
            <a:pPr marL="171450" indent="-171450">
              <a:buSzPts val="1100"/>
            </a:pPr>
            <a:r>
              <a:rPr lang="en-US" b="1" dirty="0"/>
              <a:t>Access the sign-up option for new users</a:t>
            </a:r>
          </a:p>
          <a:p>
            <a:pPr marL="0" indent="0">
              <a:buSzPts val="1100"/>
              <a:buNone/>
            </a:pPr>
            <a:r>
              <a:rPr lang="en-US" b="1" dirty="0"/>
              <a:t>      </a:t>
            </a:r>
            <a:r>
              <a:rPr lang="en-US" dirty="0"/>
              <a:t>If they don’t have an account yet, users can tap </a:t>
            </a:r>
            <a:r>
              <a:rPr lang="en-US" b="1" dirty="0"/>
              <a:t>“Sign up now”</a:t>
            </a:r>
            <a:r>
              <a:rPr lang="en-US" dirty="0"/>
              <a:t> at the bottom to navigate to the registration page and create a new account.</a:t>
            </a:r>
            <a:endParaRPr b="1" dirty="0"/>
          </a:p>
        </p:txBody>
      </p:sp>
      <p:pic>
        <p:nvPicPr>
          <p:cNvPr id="3" name="图片 2">
            <a:extLst>
              <a:ext uri="{FF2B5EF4-FFF2-40B4-BE49-F238E27FC236}">
                <a16:creationId xmlns:a16="http://schemas.microsoft.com/office/drawing/2014/main" id="{A967C0CA-00E3-1259-F000-F718DC99A416}"/>
              </a:ext>
            </a:extLst>
          </p:cNvPr>
          <p:cNvPicPr>
            <a:picLocks noChangeAspect="1"/>
          </p:cNvPicPr>
          <p:nvPr/>
        </p:nvPicPr>
        <p:blipFill>
          <a:blip r:embed="rId3"/>
          <a:stretch>
            <a:fillRect/>
          </a:stretch>
        </p:blipFill>
        <p:spPr>
          <a:xfrm>
            <a:off x="7011540" y="1061078"/>
            <a:ext cx="1561948" cy="318362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3">
          <a:extLst>
            <a:ext uri="{FF2B5EF4-FFF2-40B4-BE49-F238E27FC236}">
              <a16:creationId xmlns:a16="http://schemas.microsoft.com/office/drawing/2014/main" id="{F18BCCD1-EA4C-A869-2668-4BE44CCA9DC7}"/>
            </a:ext>
          </a:extLst>
        </p:cNvPr>
        <p:cNvGrpSpPr/>
        <p:nvPr/>
      </p:nvGrpSpPr>
      <p:grpSpPr>
        <a:xfrm>
          <a:off x="0" y="0"/>
          <a:ext cx="0" cy="0"/>
          <a:chOff x="0" y="0"/>
          <a:chExt cx="0" cy="0"/>
        </a:xfrm>
      </p:grpSpPr>
      <p:sp>
        <p:nvSpPr>
          <p:cNvPr id="494" name="Google Shape;494;p61">
            <a:extLst>
              <a:ext uri="{FF2B5EF4-FFF2-40B4-BE49-F238E27FC236}">
                <a16:creationId xmlns:a16="http://schemas.microsoft.com/office/drawing/2014/main" id="{0337F29C-0D1A-BBF6-7CFA-5D9D2D0BA621}"/>
              </a:ext>
            </a:extLst>
          </p:cNvPr>
          <p:cNvSpPr txBox="1">
            <a:spLocks noGrp="1"/>
          </p:cNvSpPr>
          <p:nvPr>
            <p:ph type="title"/>
          </p:nvPr>
        </p:nvSpPr>
        <p:spPr>
          <a:xfrm>
            <a:off x="713225" y="445025"/>
            <a:ext cx="4711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Create Account Page:</a:t>
            </a:r>
            <a:endParaRPr b="1" dirty="0"/>
          </a:p>
        </p:txBody>
      </p:sp>
      <p:sp>
        <p:nvSpPr>
          <p:cNvPr id="495" name="Google Shape;495;p61">
            <a:extLst>
              <a:ext uri="{FF2B5EF4-FFF2-40B4-BE49-F238E27FC236}">
                <a16:creationId xmlns:a16="http://schemas.microsoft.com/office/drawing/2014/main" id="{C1732D84-8B90-6056-B599-F3769CF23014}"/>
              </a:ext>
            </a:extLst>
          </p:cNvPr>
          <p:cNvSpPr txBox="1">
            <a:spLocks noGrp="1"/>
          </p:cNvSpPr>
          <p:nvPr>
            <p:ph type="body" idx="1"/>
          </p:nvPr>
        </p:nvSpPr>
        <p:spPr>
          <a:xfrm>
            <a:off x="591513" y="1361930"/>
            <a:ext cx="6005874" cy="3270464"/>
          </a:xfrm>
          <a:prstGeom prst="rect">
            <a:avLst/>
          </a:prstGeom>
        </p:spPr>
        <p:txBody>
          <a:bodyPr spcFirstLastPara="1" wrap="square" lIns="91425" tIns="91425" rIns="91425" bIns="91425" anchor="t" anchorCtr="0">
            <a:noAutofit/>
          </a:bodyPr>
          <a:lstStyle/>
          <a:p>
            <a:pPr marL="114300" indent="0">
              <a:buNone/>
            </a:pPr>
            <a:r>
              <a:rPr lang="en-US" dirty="0"/>
              <a:t>This screen is the </a:t>
            </a:r>
            <a:r>
              <a:rPr lang="en-US" b="1" dirty="0" err="1"/>
              <a:t>VendorLog</a:t>
            </a:r>
            <a:r>
              <a:rPr lang="en-US" b="1" dirty="0"/>
              <a:t> user registration page</a:t>
            </a:r>
            <a:r>
              <a:rPr lang="en-US" dirty="0"/>
              <a:t>, designed for new users to create an account. Users can complete all registration steps here, including:</a:t>
            </a:r>
          </a:p>
          <a:p>
            <a:r>
              <a:rPr lang="en-US" b="1" dirty="0"/>
              <a:t>Entering an email address</a:t>
            </a:r>
            <a:br>
              <a:rPr lang="en-US" dirty="0"/>
            </a:br>
            <a:r>
              <a:rPr lang="en-US" dirty="0"/>
              <a:t>This will be used as the login account and for receiving verification or notification emails.</a:t>
            </a:r>
          </a:p>
          <a:p>
            <a:r>
              <a:rPr lang="en-US" b="1" dirty="0"/>
              <a:t>Setting a password</a:t>
            </a:r>
            <a:br>
              <a:rPr lang="en-US" dirty="0"/>
            </a:br>
            <a:r>
              <a:rPr lang="en-US" dirty="0"/>
              <a:t>The password must be at least 6 characters long to ensure account security.</a:t>
            </a:r>
          </a:p>
          <a:p>
            <a:r>
              <a:rPr lang="en-US" b="1" dirty="0"/>
              <a:t>Confirming the password</a:t>
            </a:r>
            <a:br>
              <a:rPr lang="en-US" dirty="0"/>
            </a:br>
            <a:r>
              <a:rPr lang="en-US" dirty="0"/>
              <a:t>Enter the password again to make sure there are no mistakes.</a:t>
            </a:r>
          </a:p>
          <a:p>
            <a:r>
              <a:rPr lang="en-US" b="1" dirty="0"/>
              <a:t>Tapping “Sign Up” to complete registration</a:t>
            </a:r>
            <a:br>
              <a:rPr lang="en-US" dirty="0"/>
            </a:br>
            <a:r>
              <a:rPr lang="en-US" dirty="0"/>
              <a:t>After submitting, a new </a:t>
            </a:r>
            <a:r>
              <a:rPr lang="en-US" dirty="0" err="1"/>
              <a:t>VendorLog</a:t>
            </a:r>
            <a:r>
              <a:rPr lang="en-US" dirty="0"/>
              <a:t> account will be created.</a:t>
            </a:r>
          </a:p>
          <a:p>
            <a:r>
              <a:rPr lang="en-US" b="1" dirty="0"/>
              <a:t>Navigation for existing users</a:t>
            </a:r>
            <a:br>
              <a:rPr lang="en-US" dirty="0"/>
            </a:br>
            <a:r>
              <a:rPr lang="en-US" dirty="0"/>
              <a:t>If the user already has an account, they can tap </a:t>
            </a:r>
            <a:r>
              <a:rPr lang="en-US" b="1" dirty="0"/>
              <a:t>“Sign in”</a:t>
            </a:r>
            <a:r>
              <a:rPr lang="en-US" dirty="0"/>
              <a:t> at the bottom to return to the login page.</a:t>
            </a:r>
          </a:p>
        </p:txBody>
      </p:sp>
      <p:pic>
        <p:nvPicPr>
          <p:cNvPr id="10" name="图片 9">
            <a:extLst>
              <a:ext uri="{FF2B5EF4-FFF2-40B4-BE49-F238E27FC236}">
                <a16:creationId xmlns:a16="http://schemas.microsoft.com/office/drawing/2014/main" id="{0CF5F731-9EF7-F983-CFA2-87BA6FC6BD67}"/>
              </a:ext>
            </a:extLst>
          </p:cNvPr>
          <p:cNvPicPr>
            <a:picLocks noChangeAspect="1"/>
          </p:cNvPicPr>
          <p:nvPr/>
        </p:nvPicPr>
        <p:blipFill>
          <a:blip r:embed="rId3"/>
          <a:stretch>
            <a:fillRect/>
          </a:stretch>
        </p:blipFill>
        <p:spPr>
          <a:xfrm>
            <a:off x="6960275" y="1095407"/>
            <a:ext cx="1592212" cy="3242377"/>
          </a:xfrm>
          <a:prstGeom prst="rect">
            <a:avLst/>
          </a:prstGeom>
        </p:spPr>
      </p:pic>
    </p:spTree>
    <p:extLst>
      <p:ext uri="{BB962C8B-B14F-4D97-AF65-F5344CB8AC3E}">
        <p14:creationId xmlns:p14="http://schemas.microsoft.com/office/powerpoint/2010/main" val="830875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93">
          <a:extLst>
            <a:ext uri="{FF2B5EF4-FFF2-40B4-BE49-F238E27FC236}">
              <a16:creationId xmlns:a16="http://schemas.microsoft.com/office/drawing/2014/main" id="{5797B61E-0F60-7F0B-A137-CFA614DB2037}"/>
            </a:ext>
          </a:extLst>
        </p:cNvPr>
        <p:cNvGrpSpPr/>
        <p:nvPr/>
      </p:nvGrpSpPr>
      <p:grpSpPr>
        <a:xfrm>
          <a:off x="0" y="0"/>
          <a:ext cx="0" cy="0"/>
          <a:chOff x="0" y="0"/>
          <a:chExt cx="0" cy="0"/>
        </a:xfrm>
      </p:grpSpPr>
      <p:sp>
        <p:nvSpPr>
          <p:cNvPr id="494" name="Google Shape;494;p61">
            <a:extLst>
              <a:ext uri="{FF2B5EF4-FFF2-40B4-BE49-F238E27FC236}">
                <a16:creationId xmlns:a16="http://schemas.microsoft.com/office/drawing/2014/main" id="{7DA533CE-5789-A11F-2E1E-66B2AB2CE3A8}"/>
              </a:ext>
            </a:extLst>
          </p:cNvPr>
          <p:cNvSpPr txBox="1">
            <a:spLocks noGrp="1"/>
          </p:cNvSpPr>
          <p:nvPr>
            <p:ph type="title"/>
          </p:nvPr>
        </p:nvSpPr>
        <p:spPr>
          <a:xfrm>
            <a:off x="713225" y="445025"/>
            <a:ext cx="4711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Home Page</a:t>
            </a:r>
            <a:r>
              <a:rPr lang="en" dirty="0"/>
              <a:t>:</a:t>
            </a:r>
            <a:endParaRPr dirty="0"/>
          </a:p>
        </p:txBody>
      </p:sp>
      <p:sp>
        <p:nvSpPr>
          <p:cNvPr id="495" name="Google Shape;495;p61">
            <a:extLst>
              <a:ext uri="{FF2B5EF4-FFF2-40B4-BE49-F238E27FC236}">
                <a16:creationId xmlns:a16="http://schemas.microsoft.com/office/drawing/2014/main" id="{A7FD9291-1559-F6E5-369C-045CA4AF6036}"/>
              </a:ext>
            </a:extLst>
          </p:cNvPr>
          <p:cNvSpPr txBox="1">
            <a:spLocks noGrp="1"/>
          </p:cNvSpPr>
          <p:nvPr>
            <p:ph type="body" idx="1"/>
          </p:nvPr>
        </p:nvSpPr>
        <p:spPr>
          <a:xfrm>
            <a:off x="591513" y="1361930"/>
            <a:ext cx="6005874" cy="3270464"/>
          </a:xfrm>
          <a:prstGeom prst="rect">
            <a:avLst/>
          </a:prstGeom>
        </p:spPr>
        <p:txBody>
          <a:bodyPr spcFirstLastPara="1" wrap="square" lIns="91425" tIns="91425" rIns="91425" bIns="91425" anchor="t" anchorCtr="0">
            <a:noAutofit/>
          </a:bodyPr>
          <a:lstStyle/>
          <a:p>
            <a:r>
              <a:rPr lang="en-US" b="1" dirty="0"/>
              <a:t> User Info Card</a:t>
            </a:r>
            <a:endParaRPr lang="en-US" dirty="0"/>
          </a:p>
          <a:p>
            <a:pPr marL="114300" indent="0">
              <a:buNone/>
            </a:pPr>
            <a:r>
              <a:rPr lang="en-US" dirty="0"/>
              <a:t>At the top, the user’s avatar and username (e.g., </a:t>
            </a:r>
            <a:r>
              <a:rPr lang="en-US" i="1" dirty="0"/>
              <a:t>test</a:t>
            </a:r>
            <a:r>
              <a:rPr lang="en-US" dirty="0"/>
              <a:t>) are displayed.</a:t>
            </a:r>
            <a:br>
              <a:rPr lang="en-US" dirty="0"/>
            </a:br>
            <a:r>
              <a:rPr lang="en-US" dirty="0"/>
              <a:t>This serves as a personal welcome area and indicates which account is currently signed in.</a:t>
            </a:r>
          </a:p>
          <a:p>
            <a:pPr marL="114300" indent="0">
              <a:buNone/>
            </a:pPr>
            <a:r>
              <a:rPr lang="en-US" dirty="0"/>
              <a:t> </a:t>
            </a:r>
          </a:p>
          <a:p>
            <a:r>
              <a:rPr lang="en-US" b="1" dirty="0"/>
              <a:t> Balance Summary</a:t>
            </a:r>
            <a:endParaRPr lang="en-US" dirty="0"/>
          </a:p>
          <a:p>
            <a:pPr marL="114300" indent="0">
              <a:buNone/>
            </a:pPr>
            <a:r>
              <a:rPr lang="en-US" dirty="0"/>
              <a:t>The purple card in the center shows the user’s current financial overview:</a:t>
            </a:r>
          </a:p>
          <a:p>
            <a:pPr marL="114300" lvl="0" indent="0">
              <a:buNone/>
            </a:pPr>
            <a:r>
              <a:rPr lang="en-US" dirty="0"/>
              <a:t>Total Balance ($0.00)</a:t>
            </a:r>
          </a:p>
          <a:p>
            <a:pPr marL="114300" lvl="0" indent="0">
              <a:buNone/>
            </a:pPr>
            <a:r>
              <a:rPr lang="en-US" dirty="0"/>
              <a:t>Income ($0.00)</a:t>
            </a:r>
          </a:p>
          <a:p>
            <a:pPr marL="114300" lvl="0" indent="0">
              <a:buNone/>
            </a:pPr>
            <a:r>
              <a:rPr lang="en-US" dirty="0"/>
              <a:t>Expense ($0.00)</a:t>
            </a:r>
          </a:p>
          <a:p>
            <a:pPr marL="114300" indent="0">
              <a:buNone/>
            </a:pPr>
            <a:r>
              <a:rPr lang="en-US" dirty="0"/>
              <a:t>These values update in real time as users add new transactions.</a:t>
            </a:r>
          </a:p>
          <a:p>
            <a:pPr marL="114300" indent="0">
              <a:buNone/>
            </a:pPr>
            <a:r>
              <a:rPr lang="en-US" dirty="0"/>
              <a:t> </a:t>
            </a:r>
          </a:p>
          <a:p>
            <a:r>
              <a:rPr lang="en-US" b="1" dirty="0"/>
              <a:t> Recent Transactions</a:t>
            </a:r>
            <a:endParaRPr lang="en-US" dirty="0"/>
          </a:p>
          <a:p>
            <a:pPr marL="114300" indent="0">
              <a:buNone/>
            </a:pPr>
            <a:r>
              <a:rPr lang="en-US" dirty="0"/>
              <a:t>This section displays the user’s most recent income or expense records.</a:t>
            </a:r>
            <a:br>
              <a:rPr lang="en-US" dirty="0"/>
            </a:br>
            <a:r>
              <a:rPr lang="en-US" dirty="0"/>
              <a:t>Users can tap </a:t>
            </a:r>
            <a:r>
              <a:rPr lang="en-US" b="1" dirty="0"/>
              <a:t>View All</a:t>
            </a:r>
            <a:r>
              <a:rPr lang="en-US" dirty="0"/>
              <a:t> to see the full transaction history.</a:t>
            </a:r>
          </a:p>
          <a:p>
            <a:pPr marL="114300" indent="0">
              <a:buNone/>
            </a:pPr>
            <a:r>
              <a:rPr lang="en-US" dirty="0"/>
              <a:t> </a:t>
            </a:r>
          </a:p>
          <a:p>
            <a:pPr marL="114300" indent="0">
              <a:buNone/>
            </a:pPr>
            <a:endParaRPr lang="en-US" dirty="0"/>
          </a:p>
        </p:txBody>
      </p:sp>
      <p:pic>
        <p:nvPicPr>
          <p:cNvPr id="3" name="图片 2">
            <a:extLst>
              <a:ext uri="{FF2B5EF4-FFF2-40B4-BE49-F238E27FC236}">
                <a16:creationId xmlns:a16="http://schemas.microsoft.com/office/drawing/2014/main" id="{FEB4BB8B-E63C-1041-6CCE-AD73E3C6BA41}"/>
              </a:ext>
            </a:extLst>
          </p:cNvPr>
          <p:cNvPicPr>
            <a:picLocks noChangeAspect="1"/>
          </p:cNvPicPr>
          <p:nvPr/>
        </p:nvPicPr>
        <p:blipFill>
          <a:blip r:embed="rId3"/>
          <a:stretch>
            <a:fillRect/>
          </a:stretch>
        </p:blipFill>
        <p:spPr>
          <a:xfrm>
            <a:off x="6916076" y="1167186"/>
            <a:ext cx="1658257" cy="3465208"/>
          </a:xfrm>
          <a:prstGeom prst="rect">
            <a:avLst/>
          </a:prstGeom>
        </p:spPr>
      </p:pic>
    </p:spTree>
    <p:extLst>
      <p:ext uri="{BB962C8B-B14F-4D97-AF65-F5344CB8AC3E}">
        <p14:creationId xmlns:p14="http://schemas.microsoft.com/office/powerpoint/2010/main" val="3797521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93">
          <a:extLst>
            <a:ext uri="{FF2B5EF4-FFF2-40B4-BE49-F238E27FC236}">
              <a16:creationId xmlns:a16="http://schemas.microsoft.com/office/drawing/2014/main" id="{FD313252-AE04-4D35-CA7F-3175BF02E0E6}"/>
            </a:ext>
          </a:extLst>
        </p:cNvPr>
        <p:cNvGrpSpPr/>
        <p:nvPr/>
      </p:nvGrpSpPr>
      <p:grpSpPr>
        <a:xfrm>
          <a:off x="0" y="0"/>
          <a:ext cx="0" cy="0"/>
          <a:chOff x="0" y="0"/>
          <a:chExt cx="0" cy="0"/>
        </a:xfrm>
      </p:grpSpPr>
      <p:sp>
        <p:nvSpPr>
          <p:cNvPr id="494" name="Google Shape;494;p61">
            <a:extLst>
              <a:ext uri="{FF2B5EF4-FFF2-40B4-BE49-F238E27FC236}">
                <a16:creationId xmlns:a16="http://schemas.microsoft.com/office/drawing/2014/main" id="{654D7157-DB88-DF25-E737-30D50953D9E0}"/>
              </a:ext>
            </a:extLst>
          </p:cNvPr>
          <p:cNvSpPr txBox="1">
            <a:spLocks noGrp="1"/>
          </p:cNvSpPr>
          <p:nvPr>
            <p:ph type="title"/>
          </p:nvPr>
        </p:nvSpPr>
        <p:spPr>
          <a:xfrm>
            <a:off x="713225" y="445025"/>
            <a:ext cx="4711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Home</a:t>
            </a:r>
            <a:r>
              <a:rPr lang="en" dirty="0"/>
              <a:t> </a:t>
            </a:r>
            <a:r>
              <a:rPr lang="en" b="1" dirty="0"/>
              <a:t>Page</a:t>
            </a:r>
            <a:r>
              <a:rPr lang="en" dirty="0"/>
              <a:t>:</a:t>
            </a:r>
            <a:endParaRPr dirty="0"/>
          </a:p>
        </p:txBody>
      </p:sp>
      <p:sp>
        <p:nvSpPr>
          <p:cNvPr id="495" name="Google Shape;495;p61">
            <a:extLst>
              <a:ext uri="{FF2B5EF4-FFF2-40B4-BE49-F238E27FC236}">
                <a16:creationId xmlns:a16="http://schemas.microsoft.com/office/drawing/2014/main" id="{D3DA91F3-0930-A7D5-785D-513447B01F17}"/>
              </a:ext>
            </a:extLst>
          </p:cNvPr>
          <p:cNvSpPr txBox="1">
            <a:spLocks noGrp="1"/>
          </p:cNvSpPr>
          <p:nvPr>
            <p:ph type="body" idx="1"/>
          </p:nvPr>
        </p:nvSpPr>
        <p:spPr>
          <a:xfrm>
            <a:off x="591513" y="1361930"/>
            <a:ext cx="6005874" cy="3270464"/>
          </a:xfrm>
          <a:prstGeom prst="rect">
            <a:avLst/>
          </a:prstGeom>
        </p:spPr>
        <p:txBody>
          <a:bodyPr spcFirstLastPara="1" wrap="square" lIns="91425" tIns="91425" rIns="91425" bIns="91425" anchor="t" anchorCtr="0">
            <a:noAutofit/>
          </a:bodyPr>
          <a:lstStyle/>
          <a:p>
            <a:r>
              <a:rPr lang="en-US" b="1" dirty="0"/>
              <a:t>  Add Transaction Button</a:t>
            </a:r>
            <a:endParaRPr lang="en-US" dirty="0"/>
          </a:p>
          <a:p>
            <a:pPr marL="114300" indent="0">
              <a:buNone/>
            </a:pPr>
            <a:r>
              <a:rPr lang="en-US" dirty="0"/>
              <a:t>The purple </a:t>
            </a:r>
            <a:r>
              <a:rPr lang="en-US" b="1" dirty="0"/>
              <a:t>+</a:t>
            </a:r>
            <a:r>
              <a:rPr lang="en-US" dirty="0"/>
              <a:t> button in the bottom-right corner is a quick action button for adding new income or expense entries.</a:t>
            </a:r>
            <a:br>
              <a:rPr lang="en-US" dirty="0"/>
            </a:br>
            <a:r>
              <a:rPr lang="en-US" dirty="0"/>
              <a:t>Tapping it opens the </a:t>
            </a:r>
            <a:r>
              <a:rPr lang="en-US" b="1" dirty="0"/>
              <a:t>Add Transaction</a:t>
            </a:r>
            <a:r>
              <a:rPr lang="en-US" dirty="0"/>
              <a:t> screen.</a:t>
            </a:r>
          </a:p>
          <a:p>
            <a:pPr marL="114300" indent="0">
              <a:buNone/>
            </a:pPr>
            <a:r>
              <a:rPr lang="en-US" dirty="0"/>
              <a:t> </a:t>
            </a:r>
          </a:p>
          <a:p>
            <a:r>
              <a:rPr lang="en-US" b="1" dirty="0"/>
              <a:t>Bottom Navigation Bar</a:t>
            </a:r>
          </a:p>
          <a:p>
            <a:pPr marL="114300" lvl="0" indent="0">
              <a:buNone/>
            </a:pPr>
            <a:r>
              <a:rPr lang="en-US" b="1" dirty="0"/>
              <a:t>Financial Management</a:t>
            </a:r>
            <a:r>
              <a:rPr lang="en-US" dirty="0"/>
              <a:t>: Current screen showing the financial overview</a:t>
            </a:r>
          </a:p>
          <a:p>
            <a:pPr marL="114300" lvl="0" indent="0">
              <a:buNone/>
            </a:pPr>
            <a:r>
              <a:rPr lang="en-US" b="1" dirty="0"/>
              <a:t>Insights</a:t>
            </a:r>
            <a:r>
              <a:rPr lang="en-US" dirty="0"/>
              <a:t>: Charts, analytics, and financial insights</a:t>
            </a:r>
          </a:p>
          <a:p>
            <a:pPr marL="114300" lvl="0" indent="0">
              <a:buNone/>
            </a:pPr>
            <a:r>
              <a:rPr lang="en-US" b="1" dirty="0"/>
              <a:t>Spending</a:t>
            </a:r>
            <a:r>
              <a:rPr lang="en-US" dirty="0"/>
              <a:t>: Detailed spending view by merchant or category</a:t>
            </a:r>
          </a:p>
          <a:p>
            <a:pPr marL="114300" lvl="0" indent="0">
              <a:buNone/>
            </a:pPr>
            <a:r>
              <a:rPr lang="en-US" b="1" dirty="0"/>
              <a:t>Profile</a:t>
            </a:r>
            <a:r>
              <a:rPr lang="en-US" dirty="0"/>
              <a:t>: User profile and settings</a:t>
            </a:r>
          </a:p>
          <a:p>
            <a:pPr marL="114300" indent="0">
              <a:buNone/>
            </a:pPr>
            <a:r>
              <a:rPr lang="en-US" dirty="0"/>
              <a:t> </a:t>
            </a:r>
          </a:p>
          <a:p>
            <a:pPr marL="114300" indent="0">
              <a:buNone/>
            </a:pPr>
            <a:endParaRPr lang="en-US" dirty="0"/>
          </a:p>
        </p:txBody>
      </p:sp>
      <p:pic>
        <p:nvPicPr>
          <p:cNvPr id="3" name="图片 2">
            <a:extLst>
              <a:ext uri="{FF2B5EF4-FFF2-40B4-BE49-F238E27FC236}">
                <a16:creationId xmlns:a16="http://schemas.microsoft.com/office/drawing/2014/main" id="{2AC31B6D-2C8E-CA5D-0F5D-AB6DEBF05806}"/>
              </a:ext>
            </a:extLst>
          </p:cNvPr>
          <p:cNvPicPr>
            <a:picLocks noChangeAspect="1"/>
          </p:cNvPicPr>
          <p:nvPr/>
        </p:nvPicPr>
        <p:blipFill>
          <a:blip r:embed="rId3"/>
          <a:stretch>
            <a:fillRect/>
          </a:stretch>
        </p:blipFill>
        <p:spPr>
          <a:xfrm>
            <a:off x="6916076" y="1167186"/>
            <a:ext cx="1658257" cy="3465208"/>
          </a:xfrm>
          <a:prstGeom prst="rect">
            <a:avLst/>
          </a:prstGeom>
        </p:spPr>
      </p:pic>
    </p:spTree>
    <p:extLst>
      <p:ext uri="{BB962C8B-B14F-4D97-AF65-F5344CB8AC3E}">
        <p14:creationId xmlns:p14="http://schemas.microsoft.com/office/powerpoint/2010/main" val="2981817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93">
          <a:extLst>
            <a:ext uri="{FF2B5EF4-FFF2-40B4-BE49-F238E27FC236}">
              <a16:creationId xmlns:a16="http://schemas.microsoft.com/office/drawing/2014/main" id="{8C46ED32-5C87-AD79-A0F6-5BF30A49B507}"/>
            </a:ext>
          </a:extLst>
        </p:cNvPr>
        <p:cNvGrpSpPr/>
        <p:nvPr/>
      </p:nvGrpSpPr>
      <p:grpSpPr>
        <a:xfrm>
          <a:off x="0" y="0"/>
          <a:ext cx="0" cy="0"/>
          <a:chOff x="0" y="0"/>
          <a:chExt cx="0" cy="0"/>
        </a:xfrm>
      </p:grpSpPr>
      <p:sp>
        <p:nvSpPr>
          <p:cNvPr id="494" name="Google Shape;494;p61">
            <a:extLst>
              <a:ext uri="{FF2B5EF4-FFF2-40B4-BE49-F238E27FC236}">
                <a16:creationId xmlns:a16="http://schemas.microsoft.com/office/drawing/2014/main" id="{FFF7B2AE-7AA6-4C1C-B3D5-E19F88F3DCAC}"/>
              </a:ext>
            </a:extLst>
          </p:cNvPr>
          <p:cNvSpPr txBox="1">
            <a:spLocks noGrp="1"/>
          </p:cNvSpPr>
          <p:nvPr>
            <p:ph type="title"/>
          </p:nvPr>
        </p:nvSpPr>
        <p:spPr>
          <a:xfrm>
            <a:off x="713225" y="445025"/>
            <a:ext cx="4711500" cy="572700"/>
          </a:xfrm>
          <a:prstGeom prst="rect">
            <a:avLst/>
          </a:prstGeom>
        </p:spPr>
        <p:txBody>
          <a:bodyPr spcFirstLastPara="1" wrap="square" lIns="91425" tIns="91425" rIns="91425" bIns="91425" anchor="t" anchorCtr="0">
            <a:noAutofit/>
          </a:bodyPr>
          <a:lstStyle/>
          <a:p>
            <a:pPr lvl="0"/>
            <a:r>
              <a:rPr lang="en-US" b="1" dirty="0"/>
              <a:t>Add Transaction Page</a:t>
            </a:r>
            <a:r>
              <a:rPr lang="en-US" dirty="0"/>
              <a:t>:</a:t>
            </a:r>
            <a:endParaRPr dirty="0"/>
          </a:p>
        </p:txBody>
      </p:sp>
      <p:sp>
        <p:nvSpPr>
          <p:cNvPr id="495" name="Google Shape;495;p61">
            <a:extLst>
              <a:ext uri="{FF2B5EF4-FFF2-40B4-BE49-F238E27FC236}">
                <a16:creationId xmlns:a16="http://schemas.microsoft.com/office/drawing/2014/main" id="{4830F7E2-6CFD-2424-4EC1-4567B907C192}"/>
              </a:ext>
            </a:extLst>
          </p:cNvPr>
          <p:cNvSpPr txBox="1">
            <a:spLocks noGrp="1"/>
          </p:cNvSpPr>
          <p:nvPr>
            <p:ph type="body" idx="1"/>
          </p:nvPr>
        </p:nvSpPr>
        <p:spPr>
          <a:xfrm>
            <a:off x="591513" y="1361930"/>
            <a:ext cx="6005874" cy="3270464"/>
          </a:xfrm>
          <a:prstGeom prst="rect">
            <a:avLst/>
          </a:prstGeom>
        </p:spPr>
        <p:txBody>
          <a:bodyPr spcFirstLastPara="1" wrap="square" lIns="91425" tIns="91425" rIns="91425" bIns="91425" anchor="t" anchorCtr="0">
            <a:noAutofit/>
          </a:bodyPr>
          <a:lstStyle/>
          <a:p>
            <a:pPr marL="114300" indent="0">
              <a:buNone/>
            </a:pPr>
            <a:r>
              <a:rPr lang="en-US" dirty="0"/>
              <a:t>This screen is the </a:t>
            </a:r>
            <a:r>
              <a:rPr lang="en-US" b="1" dirty="0"/>
              <a:t>Add Transaction</a:t>
            </a:r>
            <a:r>
              <a:rPr lang="en-US" dirty="0"/>
              <a:t> page, designed to let users quickly record a new expense or income. Users can select the transaction type (Expense or Income) at the top, enter the amount, choose a category (such as Gifts, Side Job, or Other), fill in or select a merchant (e.g., Starbucks), set the transaction date, and add optional notes (such as “gift card”). Once all information is entered, tapping the </a:t>
            </a:r>
            <a:r>
              <a:rPr lang="en-US" b="1" dirty="0"/>
              <a:t>Save Transaction</a:t>
            </a:r>
            <a:r>
              <a:rPr lang="en-US" dirty="0"/>
              <a:t> button saves the record to the system and updates the financial overview and transaction history. </a:t>
            </a:r>
          </a:p>
          <a:p>
            <a:pPr marL="114300" indent="0">
              <a:buNone/>
            </a:pPr>
            <a:endParaRPr lang="en-US" dirty="0"/>
          </a:p>
        </p:txBody>
      </p:sp>
      <p:pic>
        <p:nvPicPr>
          <p:cNvPr id="4" name="图片 3">
            <a:extLst>
              <a:ext uri="{FF2B5EF4-FFF2-40B4-BE49-F238E27FC236}">
                <a16:creationId xmlns:a16="http://schemas.microsoft.com/office/drawing/2014/main" id="{5463BE8C-93E9-4F7F-B721-16FBD996A9F7}"/>
              </a:ext>
            </a:extLst>
          </p:cNvPr>
          <p:cNvPicPr>
            <a:picLocks noChangeAspect="1"/>
          </p:cNvPicPr>
          <p:nvPr/>
        </p:nvPicPr>
        <p:blipFill>
          <a:blip r:embed="rId3"/>
          <a:stretch>
            <a:fillRect/>
          </a:stretch>
        </p:blipFill>
        <p:spPr>
          <a:xfrm>
            <a:off x="6901670" y="1135979"/>
            <a:ext cx="1498306" cy="3161780"/>
          </a:xfrm>
          <a:prstGeom prst="rect">
            <a:avLst/>
          </a:prstGeom>
        </p:spPr>
      </p:pic>
    </p:spTree>
    <p:extLst>
      <p:ext uri="{BB962C8B-B14F-4D97-AF65-F5344CB8AC3E}">
        <p14:creationId xmlns:p14="http://schemas.microsoft.com/office/powerpoint/2010/main" val="37870300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93">
          <a:extLst>
            <a:ext uri="{FF2B5EF4-FFF2-40B4-BE49-F238E27FC236}">
              <a16:creationId xmlns:a16="http://schemas.microsoft.com/office/drawing/2014/main" id="{27579240-D1DD-3508-C6E4-BC9C2AD23EFA}"/>
            </a:ext>
          </a:extLst>
        </p:cNvPr>
        <p:cNvGrpSpPr/>
        <p:nvPr/>
      </p:nvGrpSpPr>
      <p:grpSpPr>
        <a:xfrm>
          <a:off x="0" y="0"/>
          <a:ext cx="0" cy="0"/>
          <a:chOff x="0" y="0"/>
          <a:chExt cx="0" cy="0"/>
        </a:xfrm>
      </p:grpSpPr>
      <p:sp>
        <p:nvSpPr>
          <p:cNvPr id="494" name="Google Shape;494;p61">
            <a:extLst>
              <a:ext uri="{FF2B5EF4-FFF2-40B4-BE49-F238E27FC236}">
                <a16:creationId xmlns:a16="http://schemas.microsoft.com/office/drawing/2014/main" id="{95878803-9292-2367-EBF4-E16125CC1AF2}"/>
              </a:ext>
            </a:extLst>
          </p:cNvPr>
          <p:cNvSpPr txBox="1">
            <a:spLocks noGrp="1"/>
          </p:cNvSpPr>
          <p:nvPr>
            <p:ph type="title"/>
          </p:nvPr>
        </p:nvSpPr>
        <p:spPr>
          <a:xfrm>
            <a:off x="713225" y="445025"/>
            <a:ext cx="4711500" cy="572700"/>
          </a:xfrm>
          <a:prstGeom prst="rect">
            <a:avLst/>
          </a:prstGeom>
        </p:spPr>
        <p:txBody>
          <a:bodyPr spcFirstLastPara="1" wrap="square" lIns="91425" tIns="91425" rIns="91425" bIns="91425" anchor="t" anchorCtr="0">
            <a:noAutofit/>
          </a:bodyPr>
          <a:lstStyle/>
          <a:p>
            <a:pPr lvl="0"/>
            <a:r>
              <a:rPr lang="en-US" b="1" dirty="0"/>
              <a:t>Transactions Page</a:t>
            </a:r>
            <a:r>
              <a:rPr lang="en-US" dirty="0"/>
              <a:t>:</a:t>
            </a:r>
            <a:endParaRPr dirty="0"/>
          </a:p>
        </p:txBody>
      </p:sp>
      <p:sp>
        <p:nvSpPr>
          <p:cNvPr id="495" name="Google Shape;495;p61">
            <a:extLst>
              <a:ext uri="{FF2B5EF4-FFF2-40B4-BE49-F238E27FC236}">
                <a16:creationId xmlns:a16="http://schemas.microsoft.com/office/drawing/2014/main" id="{A3C473EA-466F-20A4-E3A2-F5C8D38E41D6}"/>
              </a:ext>
            </a:extLst>
          </p:cNvPr>
          <p:cNvSpPr txBox="1">
            <a:spLocks noGrp="1"/>
          </p:cNvSpPr>
          <p:nvPr>
            <p:ph type="body" idx="1"/>
          </p:nvPr>
        </p:nvSpPr>
        <p:spPr>
          <a:xfrm>
            <a:off x="591513" y="1361930"/>
            <a:ext cx="6005874" cy="3270464"/>
          </a:xfrm>
          <a:prstGeom prst="rect">
            <a:avLst/>
          </a:prstGeom>
        </p:spPr>
        <p:txBody>
          <a:bodyPr spcFirstLastPara="1" wrap="square" lIns="91425" tIns="91425" rIns="91425" bIns="91425" anchor="t" anchorCtr="0">
            <a:noAutofit/>
          </a:bodyPr>
          <a:lstStyle/>
          <a:p>
            <a:pPr marL="114300" indent="0">
              <a:buNone/>
            </a:pPr>
            <a:r>
              <a:rPr lang="en-US" dirty="0"/>
              <a:t>This screen is the </a:t>
            </a:r>
            <a:r>
              <a:rPr lang="en-US" b="1" dirty="0"/>
              <a:t>Transactions</a:t>
            </a:r>
            <a:r>
              <a:rPr lang="en-US" dirty="0"/>
              <a:t> page, where users can view all recorded income and expenses. Users can search for specific transactions using the search bar at the top, or tap the </a:t>
            </a:r>
            <a:r>
              <a:rPr lang="en-US" b="1" dirty="0"/>
              <a:t>Filter</a:t>
            </a:r>
            <a:r>
              <a:rPr lang="en-US" dirty="0"/>
              <a:t> button in the upper-right corner to refine the results. Filter options include viewing only </a:t>
            </a:r>
            <a:r>
              <a:rPr lang="en-US" b="1" dirty="0"/>
              <a:t>Income</a:t>
            </a:r>
            <a:r>
              <a:rPr lang="en-US" dirty="0"/>
              <a:t> (displayed in green), only </a:t>
            </a:r>
            <a:r>
              <a:rPr lang="en-US" b="1" dirty="0"/>
              <a:t>Expense</a:t>
            </a:r>
            <a:r>
              <a:rPr lang="en-US" dirty="0"/>
              <a:t> (displayed in red), transactions from this month, transactions from this week, or clearing all filters. Each transaction entry shows the name, merchant, amount (green for income, red for expense), and the date and time, allowing users to clearly and efficiently manage their financial activity.</a:t>
            </a:r>
          </a:p>
        </p:txBody>
      </p:sp>
      <p:pic>
        <p:nvPicPr>
          <p:cNvPr id="3" name="图片 2">
            <a:extLst>
              <a:ext uri="{FF2B5EF4-FFF2-40B4-BE49-F238E27FC236}">
                <a16:creationId xmlns:a16="http://schemas.microsoft.com/office/drawing/2014/main" id="{F08225E5-590B-67F3-6972-4D665B5C2B56}"/>
              </a:ext>
            </a:extLst>
          </p:cNvPr>
          <p:cNvPicPr>
            <a:picLocks noChangeAspect="1"/>
          </p:cNvPicPr>
          <p:nvPr/>
        </p:nvPicPr>
        <p:blipFill>
          <a:blip r:embed="rId3"/>
          <a:stretch>
            <a:fillRect/>
          </a:stretch>
        </p:blipFill>
        <p:spPr>
          <a:xfrm>
            <a:off x="7012938" y="1104769"/>
            <a:ext cx="1399858" cy="2877785"/>
          </a:xfrm>
          <a:prstGeom prst="rect">
            <a:avLst/>
          </a:prstGeom>
        </p:spPr>
      </p:pic>
    </p:spTree>
    <p:extLst>
      <p:ext uri="{BB962C8B-B14F-4D97-AF65-F5344CB8AC3E}">
        <p14:creationId xmlns:p14="http://schemas.microsoft.com/office/powerpoint/2010/main" val="42263702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3">
          <a:extLst>
            <a:ext uri="{FF2B5EF4-FFF2-40B4-BE49-F238E27FC236}">
              <a16:creationId xmlns:a16="http://schemas.microsoft.com/office/drawing/2014/main" id="{51E4FB09-2F01-6510-AB2E-30F10651B06A}"/>
            </a:ext>
          </a:extLst>
        </p:cNvPr>
        <p:cNvGrpSpPr/>
        <p:nvPr/>
      </p:nvGrpSpPr>
      <p:grpSpPr>
        <a:xfrm>
          <a:off x="0" y="0"/>
          <a:ext cx="0" cy="0"/>
          <a:chOff x="0" y="0"/>
          <a:chExt cx="0" cy="0"/>
        </a:xfrm>
      </p:grpSpPr>
      <p:sp>
        <p:nvSpPr>
          <p:cNvPr id="494" name="Google Shape;494;p61">
            <a:extLst>
              <a:ext uri="{FF2B5EF4-FFF2-40B4-BE49-F238E27FC236}">
                <a16:creationId xmlns:a16="http://schemas.microsoft.com/office/drawing/2014/main" id="{9AAB2B1B-6F6E-83FD-0072-2072518E46AA}"/>
              </a:ext>
            </a:extLst>
          </p:cNvPr>
          <p:cNvSpPr txBox="1">
            <a:spLocks noGrp="1"/>
          </p:cNvSpPr>
          <p:nvPr>
            <p:ph type="title"/>
          </p:nvPr>
        </p:nvSpPr>
        <p:spPr>
          <a:xfrm>
            <a:off x="713225" y="445025"/>
            <a:ext cx="4711500" cy="572700"/>
          </a:xfrm>
          <a:prstGeom prst="rect">
            <a:avLst/>
          </a:prstGeom>
        </p:spPr>
        <p:txBody>
          <a:bodyPr spcFirstLastPara="1" wrap="square" lIns="91425" tIns="91425" rIns="91425" bIns="91425" anchor="t" anchorCtr="0">
            <a:noAutofit/>
          </a:bodyPr>
          <a:lstStyle/>
          <a:p>
            <a:pPr lvl="0"/>
            <a:r>
              <a:rPr lang="en-US" b="1" dirty="0"/>
              <a:t>Statistics</a:t>
            </a:r>
            <a:r>
              <a:rPr lang="en" dirty="0"/>
              <a:t> </a:t>
            </a:r>
            <a:r>
              <a:rPr lang="en" b="1" dirty="0"/>
              <a:t>Page</a:t>
            </a:r>
            <a:r>
              <a:rPr lang="en" dirty="0"/>
              <a:t>:</a:t>
            </a:r>
            <a:endParaRPr dirty="0"/>
          </a:p>
        </p:txBody>
      </p:sp>
      <p:sp>
        <p:nvSpPr>
          <p:cNvPr id="495" name="Google Shape;495;p61">
            <a:extLst>
              <a:ext uri="{FF2B5EF4-FFF2-40B4-BE49-F238E27FC236}">
                <a16:creationId xmlns:a16="http://schemas.microsoft.com/office/drawing/2014/main" id="{396FCB93-AE67-4452-3B29-08850EFA444B}"/>
              </a:ext>
            </a:extLst>
          </p:cNvPr>
          <p:cNvSpPr txBox="1">
            <a:spLocks noGrp="1"/>
          </p:cNvSpPr>
          <p:nvPr>
            <p:ph type="body" idx="1"/>
          </p:nvPr>
        </p:nvSpPr>
        <p:spPr>
          <a:xfrm>
            <a:off x="569667" y="1040485"/>
            <a:ext cx="6005874" cy="3815510"/>
          </a:xfrm>
          <a:prstGeom prst="rect">
            <a:avLst/>
          </a:prstGeom>
        </p:spPr>
        <p:txBody>
          <a:bodyPr spcFirstLastPara="1" wrap="square" lIns="91425" tIns="91425" rIns="91425" bIns="91425" anchor="t" anchorCtr="0">
            <a:noAutofit/>
          </a:bodyPr>
          <a:lstStyle/>
          <a:p>
            <a:pPr marL="114300" indent="0">
              <a:buNone/>
            </a:pPr>
            <a:r>
              <a:rPr lang="en-US" dirty="0"/>
              <a:t>This screen is the </a:t>
            </a:r>
            <a:r>
              <a:rPr lang="en-US" b="1" dirty="0"/>
              <a:t>Statistics</a:t>
            </a:r>
            <a:r>
              <a:rPr lang="en-US" dirty="0"/>
              <a:t> page of the application. It is designed to display the user’s income and expense trends, category breakdowns, and overall financial performance across different time periods. Users can quickly understand their financial health and spending patterns.</a:t>
            </a:r>
            <a:r>
              <a:rPr lang="en-US" b="1" dirty="0"/>
              <a:t> </a:t>
            </a:r>
          </a:p>
          <a:p>
            <a:pPr marL="114300" indent="0">
              <a:buNone/>
            </a:pPr>
            <a:endParaRPr lang="en-US" b="1" dirty="0"/>
          </a:p>
          <a:p>
            <a:r>
              <a:rPr lang="en-US" b="1" dirty="0"/>
              <a:t> Time Range Selection</a:t>
            </a:r>
          </a:p>
          <a:p>
            <a:pPr marL="114300" indent="0">
              <a:buNone/>
            </a:pPr>
            <a:r>
              <a:rPr lang="en-US" dirty="0"/>
              <a:t>The top of the page provides three selectable time periods—This Week, This Month, and This Year—allowing users to switch between different ranges and view the corresponding financial statistics. </a:t>
            </a:r>
          </a:p>
          <a:p>
            <a:r>
              <a:rPr lang="en-US" b="1" dirty="0"/>
              <a:t>Income &amp; Expense Summary</a:t>
            </a:r>
          </a:p>
          <a:p>
            <a:pPr marL="114300" indent="0">
              <a:buNone/>
            </a:pPr>
            <a:r>
              <a:rPr lang="en-US" dirty="0"/>
              <a:t>The summary section displays three key metrics for the selected timeframe: Total Income (shown in green), Total Expense (shown in red), and Net Income (income minus expense). These values give users an at-a-glance understanding of their financial balance.</a:t>
            </a:r>
          </a:p>
          <a:p>
            <a:r>
              <a:rPr lang="en-US" b="1" dirty="0"/>
              <a:t>Income &amp; Expense Trend</a:t>
            </a:r>
          </a:p>
          <a:p>
            <a:pPr marL="114300" indent="0">
              <a:buNone/>
            </a:pPr>
            <a:r>
              <a:rPr lang="en-US" dirty="0"/>
              <a:t>The trend chart visualizes how income and expenses change over time, using green bars for income and red bars for expenses, enabling users to clearly compare financial inflows and outflows.</a:t>
            </a:r>
          </a:p>
          <a:p>
            <a:r>
              <a:rPr lang="en-US" b="1" dirty="0"/>
              <a:t>Category Breakdown</a:t>
            </a:r>
          </a:p>
          <a:p>
            <a:pPr marL="114300" indent="0">
              <a:buNone/>
            </a:pPr>
            <a:r>
              <a:rPr lang="en-US" dirty="0"/>
              <a:t>The category breakdown section lists the amount and percentage for each transaction category—such as Salary, Investment, and Gifts—helping users identify which categories contribute most to their income or spending.</a:t>
            </a:r>
          </a:p>
          <a:p>
            <a:pPr marL="114300" indent="0">
              <a:buNone/>
            </a:pPr>
            <a:r>
              <a:rPr lang="en-US" dirty="0"/>
              <a:t> </a:t>
            </a:r>
          </a:p>
          <a:p>
            <a:pPr marL="114300" indent="0">
              <a:buNone/>
            </a:pPr>
            <a:endParaRPr lang="en-US" dirty="0"/>
          </a:p>
        </p:txBody>
      </p:sp>
      <p:pic>
        <p:nvPicPr>
          <p:cNvPr id="2" name="图片 1">
            <a:extLst>
              <a:ext uri="{FF2B5EF4-FFF2-40B4-BE49-F238E27FC236}">
                <a16:creationId xmlns:a16="http://schemas.microsoft.com/office/drawing/2014/main" id="{42049DC2-C81E-1FAE-4746-B4BD9F932028}"/>
              </a:ext>
            </a:extLst>
          </p:cNvPr>
          <p:cNvPicPr>
            <a:picLocks noChangeAspect="1"/>
          </p:cNvPicPr>
          <p:nvPr/>
        </p:nvPicPr>
        <p:blipFill>
          <a:blip r:embed="rId3"/>
          <a:stretch>
            <a:fillRect/>
          </a:stretch>
        </p:blipFill>
        <p:spPr>
          <a:xfrm>
            <a:off x="6922239" y="1126616"/>
            <a:ext cx="1544204" cy="3230438"/>
          </a:xfrm>
          <a:prstGeom prst="rect">
            <a:avLst/>
          </a:prstGeom>
        </p:spPr>
      </p:pic>
    </p:spTree>
    <p:extLst>
      <p:ext uri="{BB962C8B-B14F-4D97-AF65-F5344CB8AC3E}">
        <p14:creationId xmlns:p14="http://schemas.microsoft.com/office/powerpoint/2010/main" val="4090992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93">
          <a:extLst>
            <a:ext uri="{FF2B5EF4-FFF2-40B4-BE49-F238E27FC236}">
              <a16:creationId xmlns:a16="http://schemas.microsoft.com/office/drawing/2014/main" id="{8440E6CD-9156-0FA9-91B1-41F2A23FEB84}"/>
            </a:ext>
          </a:extLst>
        </p:cNvPr>
        <p:cNvGrpSpPr/>
        <p:nvPr/>
      </p:nvGrpSpPr>
      <p:grpSpPr>
        <a:xfrm>
          <a:off x="0" y="0"/>
          <a:ext cx="0" cy="0"/>
          <a:chOff x="0" y="0"/>
          <a:chExt cx="0" cy="0"/>
        </a:xfrm>
      </p:grpSpPr>
      <p:sp>
        <p:nvSpPr>
          <p:cNvPr id="494" name="Google Shape;494;p61">
            <a:extLst>
              <a:ext uri="{FF2B5EF4-FFF2-40B4-BE49-F238E27FC236}">
                <a16:creationId xmlns:a16="http://schemas.microsoft.com/office/drawing/2014/main" id="{FAB67F0A-B7C8-0AFD-86E9-47ED85AE9F2C}"/>
              </a:ext>
            </a:extLst>
          </p:cNvPr>
          <p:cNvSpPr txBox="1">
            <a:spLocks noGrp="1"/>
          </p:cNvSpPr>
          <p:nvPr>
            <p:ph type="title"/>
          </p:nvPr>
        </p:nvSpPr>
        <p:spPr>
          <a:xfrm>
            <a:off x="713225" y="445025"/>
            <a:ext cx="4711500" cy="572700"/>
          </a:xfrm>
          <a:prstGeom prst="rect">
            <a:avLst/>
          </a:prstGeom>
        </p:spPr>
        <p:txBody>
          <a:bodyPr spcFirstLastPara="1" wrap="square" lIns="91425" tIns="91425" rIns="91425" bIns="91425" anchor="t" anchorCtr="0">
            <a:noAutofit/>
          </a:bodyPr>
          <a:lstStyle/>
          <a:p>
            <a:pPr lvl="0"/>
            <a:r>
              <a:rPr lang="en-US" b="1" dirty="0"/>
              <a:t>Merchants</a:t>
            </a:r>
            <a:r>
              <a:rPr lang="en" dirty="0"/>
              <a:t> </a:t>
            </a:r>
            <a:r>
              <a:rPr lang="en" b="1" dirty="0"/>
              <a:t>Page</a:t>
            </a:r>
            <a:r>
              <a:rPr lang="en" dirty="0"/>
              <a:t>:</a:t>
            </a:r>
            <a:endParaRPr dirty="0"/>
          </a:p>
        </p:txBody>
      </p:sp>
      <p:sp>
        <p:nvSpPr>
          <p:cNvPr id="495" name="Google Shape;495;p61">
            <a:extLst>
              <a:ext uri="{FF2B5EF4-FFF2-40B4-BE49-F238E27FC236}">
                <a16:creationId xmlns:a16="http://schemas.microsoft.com/office/drawing/2014/main" id="{62E009C0-F5E8-3073-B3F4-0211AE58089B}"/>
              </a:ext>
            </a:extLst>
          </p:cNvPr>
          <p:cNvSpPr txBox="1">
            <a:spLocks noGrp="1"/>
          </p:cNvSpPr>
          <p:nvPr>
            <p:ph type="body" idx="1"/>
          </p:nvPr>
        </p:nvSpPr>
        <p:spPr>
          <a:xfrm>
            <a:off x="569667" y="1040485"/>
            <a:ext cx="6005874" cy="3815510"/>
          </a:xfrm>
          <a:prstGeom prst="rect">
            <a:avLst/>
          </a:prstGeom>
        </p:spPr>
        <p:txBody>
          <a:bodyPr spcFirstLastPara="1" wrap="square" lIns="91425" tIns="91425" rIns="91425" bIns="91425" anchor="t" anchorCtr="0">
            <a:noAutofit/>
          </a:bodyPr>
          <a:lstStyle/>
          <a:p>
            <a:pPr marL="114300" indent="0">
              <a:buNone/>
            </a:pPr>
            <a:r>
              <a:rPr lang="en-US" dirty="0"/>
              <a:t>This screen is the Merchants page, where users can view all merchants they have interacted with through their transactions. It provides a clear summary of spending habits tied to each merchant.</a:t>
            </a:r>
          </a:p>
          <a:p>
            <a:r>
              <a:rPr lang="en-US" b="1" dirty="0"/>
              <a:t>Search Function</a:t>
            </a:r>
            <a:br>
              <a:rPr lang="en-US" dirty="0"/>
            </a:br>
            <a:r>
              <a:rPr lang="en-US" dirty="0"/>
              <a:t>At the top, users can search for specific merchants using the search bar, making it easy to quickly locate transaction history for a particular store or vendor.</a:t>
            </a:r>
          </a:p>
          <a:p>
            <a:r>
              <a:rPr lang="en-US" b="1" dirty="0"/>
              <a:t>Merchant List</a:t>
            </a:r>
            <a:br>
              <a:rPr lang="en-US" dirty="0"/>
            </a:br>
            <a:r>
              <a:rPr lang="en-US" dirty="0"/>
              <a:t>Each merchant entry displays key information including the merchant name, category, number of visits, total amount spent, and the date of the most recent visit. This helps users understand how often they visit each merchant and how much they typically spend there.</a:t>
            </a:r>
          </a:p>
          <a:p>
            <a:r>
              <a:rPr lang="en-US" b="1" dirty="0"/>
              <a:t>Add Merchant Button</a:t>
            </a:r>
            <a:br>
              <a:rPr lang="en-US" dirty="0"/>
            </a:br>
            <a:r>
              <a:rPr lang="en-US" dirty="0"/>
              <a:t>In the upper-right corner, users can tap the + icon to add a new merchant manually if needed.</a:t>
            </a:r>
          </a:p>
          <a:p>
            <a:pPr marL="114300" indent="0">
              <a:buNone/>
            </a:pPr>
            <a:endParaRPr lang="en-US" dirty="0"/>
          </a:p>
        </p:txBody>
      </p:sp>
      <p:pic>
        <p:nvPicPr>
          <p:cNvPr id="4" name="图片 3">
            <a:extLst>
              <a:ext uri="{FF2B5EF4-FFF2-40B4-BE49-F238E27FC236}">
                <a16:creationId xmlns:a16="http://schemas.microsoft.com/office/drawing/2014/main" id="{3B54987F-D6D9-8E79-79EA-240184575E53}"/>
              </a:ext>
            </a:extLst>
          </p:cNvPr>
          <p:cNvPicPr>
            <a:picLocks noChangeAspect="1"/>
          </p:cNvPicPr>
          <p:nvPr/>
        </p:nvPicPr>
        <p:blipFill>
          <a:blip r:embed="rId3"/>
          <a:stretch>
            <a:fillRect/>
          </a:stretch>
        </p:blipFill>
        <p:spPr>
          <a:xfrm>
            <a:off x="6810430" y="1170307"/>
            <a:ext cx="1573315" cy="3267888"/>
          </a:xfrm>
          <a:prstGeom prst="rect">
            <a:avLst/>
          </a:prstGeom>
        </p:spPr>
      </p:pic>
    </p:spTree>
    <p:extLst>
      <p:ext uri="{BB962C8B-B14F-4D97-AF65-F5344CB8AC3E}">
        <p14:creationId xmlns:p14="http://schemas.microsoft.com/office/powerpoint/2010/main" val="2013217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93">
          <a:extLst>
            <a:ext uri="{FF2B5EF4-FFF2-40B4-BE49-F238E27FC236}">
              <a16:creationId xmlns:a16="http://schemas.microsoft.com/office/drawing/2014/main" id="{242351E2-3A45-929F-A468-E755D356C350}"/>
            </a:ext>
          </a:extLst>
        </p:cNvPr>
        <p:cNvGrpSpPr/>
        <p:nvPr/>
      </p:nvGrpSpPr>
      <p:grpSpPr>
        <a:xfrm>
          <a:off x="0" y="0"/>
          <a:ext cx="0" cy="0"/>
          <a:chOff x="0" y="0"/>
          <a:chExt cx="0" cy="0"/>
        </a:xfrm>
      </p:grpSpPr>
      <p:sp>
        <p:nvSpPr>
          <p:cNvPr id="494" name="Google Shape;494;p61">
            <a:extLst>
              <a:ext uri="{FF2B5EF4-FFF2-40B4-BE49-F238E27FC236}">
                <a16:creationId xmlns:a16="http://schemas.microsoft.com/office/drawing/2014/main" id="{F45B5454-4A22-9585-80F0-332E6C469FE8}"/>
              </a:ext>
            </a:extLst>
          </p:cNvPr>
          <p:cNvSpPr txBox="1">
            <a:spLocks noGrp="1"/>
          </p:cNvSpPr>
          <p:nvPr>
            <p:ph type="title"/>
          </p:nvPr>
        </p:nvSpPr>
        <p:spPr>
          <a:xfrm>
            <a:off x="713225" y="445025"/>
            <a:ext cx="4711500" cy="572700"/>
          </a:xfrm>
          <a:prstGeom prst="rect">
            <a:avLst/>
          </a:prstGeom>
        </p:spPr>
        <p:txBody>
          <a:bodyPr spcFirstLastPara="1" wrap="square" lIns="91425" tIns="91425" rIns="91425" bIns="91425" anchor="t" anchorCtr="0">
            <a:noAutofit/>
          </a:bodyPr>
          <a:lstStyle/>
          <a:p>
            <a:pPr lvl="0"/>
            <a:r>
              <a:rPr lang="en-US" b="1" dirty="0"/>
              <a:t>Merchant Details</a:t>
            </a:r>
            <a:r>
              <a:rPr lang="en" dirty="0"/>
              <a:t> </a:t>
            </a:r>
            <a:r>
              <a:rPr lang="en" b="1" dirty="0"/>
              <a:t>Page</a:t>
            </a:r>
            <a:r>
              <a:rPr lang="en" dirty="0"/>
              <a:t>:</a:t>
            </a:r>
            <a:endParaRPr dirty="0"/>
          </a:p>
        </p:txBody>
      </p:sp>
      <p:sp>
        <p:nvSpPr>
          <p:cNvPr id="495" name="Google Shape;495;p61">
            <a:extLst>
              <a:ext uri="{FF2B5EF4-FFF2-40B4-BE49-F238E27FC236}">
                <a16:creationId xmlns:a16="http://schemas.microsoft.com/office/drawing/2014/main" id="{2FE9C2A0-440D-6B79-619E-84041E540A43}"/>
              </a:ext>
            </a:extLst>
          </p:cNvPr>
          <p:cNvSpPr txBox="1">
            <a:spLocks noGrp="1"/>
          </p:cNvSpPr>
          <p:nvPr>
            <p:ph type="body" idx="1"/>
          </p:nvPr>
        </p:nvSpPr>
        <p:spPr>
          <a:xfrm>
            <a:off x="569667" y="1040485"/>
            <a:ext cx="6005874" cy="3712523"/>
          </a:xfrm>
          <a:prstGeom prst="rect">
            <a:avLst/>
          </a:prstGeom>
        </p:spPr>
        <p:txBody>
          <a:bodyPr spcFirstLastPara="1" wrap="square" lIns="91425" tIns="91425" rIns="91425" bIns="91425" anchor="t" anchorCtr="0">
            <a:noAutofit/>
          </a:bodyPr>
          <a:lstStyle/>
          <a:p>
            <a:pPr marL="114300" indent="0">
              <a:buNone/>
            </a:pPr>
            <a:r>
              <a:rPr lang="en-US" dirty="0"/>
              <a:t>This screen is the Merchant Details page, providing an in-depth look at a specific merchant. It shows the merchant’s name, category, and a quick link to edit its information.</a:t>
            </a:r>
          </a:p>
          <a:p>
            <a:r>
              <a:rPr lang="en-US" b="1" dirty="0"/>
              <a:t>Visit &amp; Spending Summary</a:t>
            </a:r>
            <a:br>
              <a:rPr lang="en-US" dirty="0"/>
            </a:br>
            <a:r>
              <a:rPr lang="en-US" dirty="0"/>
              <a:t>The summary section displays key statistics related to the user’s interactions with this merchant, including the number of visits, the total amount spent (in green), and the average spending per visit (in orange).</a:t>
            </a:r>
          </a:p>
          <a:p>
            <a:r>
              <a:rPr lang="en-US" b="1" dirty="0"/>
              <a:t>Rating</a:t>
            </a:r>
            <a:br>
              <a:rPr lang="en-US" dirty="0"/>
            </a:br>
            <a:r>
              <a:rPr lang="en-US" dirty="0"/>
              <a:t>Users can view or assign a star rating for the merchant. If no rating has been set, it appears as “Not rated.”</a:t>
            </a:r>
          </a:p>
          <a:p>
            <a:r>
              <a:rPr lang="en-US" b="1" dirty="0"/>
              <a:t>Notes</a:t>
            </a:r>
            <a:br>
              <a:rPr lang="en-US" dirty="0"/>
            </a:br>
            <a:r>
              <a:rPr lang="en-US" dirty="0"/>
              <a:t>The notes section allows users to record pros, cons, tips, and any additional notes about the merchant. This helps users track personal impressions or important reminders.</a:t>
            </a:r>
          </a:p>
          <a:p>
            <a:r>
              <a:rPr lang="en-US" b="1" dirty="0"/>
              <a:t>Recent Transactions</a:t>
            </a:r>
            <a:br>
              <a:rPr lang="en-US" dirty="0"/>
            </a:br>
            <a:r>
              <a:rPr lang="en-US" dirty="0"/>
              <a:t>At the bottom, users can see a list of recent transactions associated with this merchant, including the transaction amount, category, and date, making it easy to review past spending behavior with this vendor.</a:t>
            </a:r>
          </a:p>
          <a:p>
            <a:pPr marL="114300" indent="0">
              <a:buNone/>
            </a:pPr>
            <a:endParaRPr lang="en-US" dirty="0"/>
          </a:p>
        </p:txBody>
      </p:sp>
      <p:pic>
        <p:nvPicPr>
          <p:cNvPr id="3" name="图片 2">
            <a:extLst>
              <a:ext uri="{FF2B5EF4-FFF2-40B4-BE49-F238E27FC236}">
                <a16:creationId xmlns:a16="http://schemas.microsoft.com/office/drawing/2014/main" id="{4D765346-27FA-67D5-630B-AE0B86735C65}"/>
              </a:ext>
            </a:extLst>
          </p:cNvPr>
          <p:cNvPicPr>
            <a:picLocks noChangeAspect="1"/>
          </p:cNvPicPr>
          <p:nvPr/>
        </p:nvPicPr>
        <p:blipFill>
          <a:blip r:embed="rId3"/>
          <a:stretch>
            <a:fillRect/>
          </a:stretch>
        </p:blipFill>
        <p:spPr>
          <a:xfrm>
            <a:off x="6829404" y="1104770"/>
            <a:ext cx="1618193" cy="3336546"/>
          </a:xfrm>
          <a:prstGeom prst="rect">
            <a:avLst/>
          </a:prstGeom>
        </p:spPr>
      </p:pic>
    </p:spTree>
    <p:extLst>
      <p:ext uri="{BB962C8B-B14F-4D97-AF65-F5344CB8AC3E}">
        <p14:creationId xmlns:p14="http://schemas.microsoft.com/office/powerpoint/2010/main" val="998394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93">
          <a:extLst>
            <a:ext uri="{FF2B5EF4-FFF2-40B4-BE49-F238E27FC236}">
              <a16:creationId xmlns:a16="http://schemas.microsoft.com/office/drawing/2014/main" id="{0A6DBBE3-10DC-8F6C-2EC2-BAC57A8B57C1}"/>
            </a:ext>
          </a:extLst>
        </p:cNvPr>
        <p:cNvGrpSpPr/>
        <p:nvPr/>
      </p:nvGrpSpPr>
      <p:grpSpPr>
        <a:xfrm>
          <a:off x="0" y="0"/>
          <a:ext cx="0" cy="0"/>
          <a:chOff x="0" y="0"/>
          <a:chExt cx="0" cy="0"/>
        </a:xfrm>
      </p:grpSpPr>
      <p:sp>
        <p:nvSpPr>
          <p:cNvPr id="494" name="Google Shape;494;p61">
            <a:extLst>
              <a:ext uri="{FF2B5EF4-FFF2-40B4-BE49-F238E27FC236}">
                <a16:creationId xmlns:a16="http://schemas.microsoft.com/office/drawing/2014/main" id="{0D09FF2C-2CF6-BAC5-6088-B2A2E58E04D9}"/>
              </a:ext>
            </a:extLst>
          </p:cNvPr>
          <p:cNvSpPr txBox="1">
            <a:spLocks noGrp="1"/>
          </p:cNvSpPr>
          <p:nvPr>
            <p:ph type="title"/>
          </p:nvPr>
        </p:nvSpPr>
        <p:spPr>
          <a:xfrm>
            <a:off x="713225" y="445025"/>
            <a:ext cx="4711500" cy="572700"/>
          </a:xfrm>
          <a:prstGeom prst="rect">
            <a:avLst/>
          </a:prstGeom>
        </p:spPr>
        <p:txBody>
          <a:bodyPr spcFirstLastPara="1" wrap="square" lIns="91425" tIns="91425" rIns="91425" bIns="91425" anchor="t" anchorCtr="0">
            <a:noAutofit/>
          </a:bodyPr>
          <a:lstStyle/>
          <a:p>
            <a:pPr lvl="0"/>
            <a:r>
              <a:rPr lang="en-US" b="1" dirty="0"/>
              <a:t>Merchant Edit</a:t>
            </a:r>
            <a:r>
              <a:rPr lang="en" dirty="0"/>
              <a:t> </a:t>
            </a:r>
            <a:r>
              <a:rPr lang="en" b="1" dirty="0"/>
              <a:t>Page</a:t>
            </a:r>
            <a:r>
              <a:rPr lang="en" dirty="0"/>
              <a:t>:</a:t>
            </a:r>
            <a:endParaRPr dirty="0"/>
          </a:p>
        </p:txBody>
      </p:sp>
      <p:sp>
        <p:nvSpPr>
          <p:cNvPr id="495" name="Google Shape;495;p61">
            <a:extLst>
              <a:ext uri="{FF2B5EF4-FFF2-40B4-BE49-F238E27FC236}">
                <a16:creationId xmlns:a16="http://schemas.microsoft.com/office/drawing/2014/main" id="{D3334708-187F-4891-0C44-2CA0F1BD9E25}"/>
              </a:ext>
            </a:extLst>
          </p:cNvPr>
          <p:cNvSpPr txBox="1">
            <a:spLocks noGrp="1"/>
          </p:cNvSpPr>
          <p:nvPr>
            <p:ph type="body" idx="1"/>
          </p:nvPr>
        </p:nvSpPr>
        <p:spPr>
          <a:xfrm>
            <a:off x="569667" y="1040485"/>
            <a:ext cx="6005874" cy="3712523"/>
          </a:xfrm>
          <a:prstGeom prst="rect">
            <a:avLst/>
          </a:prstGeom>
        </p:spPr>
        <p:txBody>
          <a:bodyPr spcFirstLastPara="1" wrap="square" lIns="91425" tIns="91425" rIns="91425" bIns="91425" anchor="t" anchorCtr="0">
            <a:noAutofit/>
          </a:bodyPr>
          <a:lstStyle/>
          <a:p>
            <a:pPr marL="114300" indent="0">
              <a:buNone/>
            </a:pPr>
            <a:br>
              <a:rPr lang="en-US" dirty="0"/>
            </a:br>
            <a:r>
              <a:rPr lang="en-US" dirty="0"/>
              <a:t>This screen is the Edit Merchant Review page, where users can add or update their personal review of a specific merchant. It provides a structured way to record impressions, feedback, and useful notes about the merchant.</a:t>
            </a:r>
          </a:p>
          <a:p>
            <a:r>
              <a:rPr lang="en-US" b="1" dirty="0"/>
              <a:t>Rating</a:t>
            </a:r>
            <a:br>
              <a:rPr lang="en-US" dirty="0"/>
            </a:br>
            <a:r>
              <a:rPr lang="en-US" dirty="0"/>
              <a:t>Users can select a star rating to reflect their overall experience with the merchant. This rating visually represents satisfaction level.</a:t>
            </a:r>
          </a:p>
          <a:p>
            <a:r>
              <a:rPr lang="en-US" b="1" dirty="0"/>
              <a:t>Recommendation</a:t>
            </a:r>
            <a:br>
              <a:rPr lang="en-US" dirty="0"/>
            </a:br>
            <a:r>
              <a:rPr lang="en-US" dirty="0"/>
              <a:t>The page includes three recommendation options—Recommend, Neutral, and Avoid—allowing users to categorize how strongly they would suggest this merchant to others.</a:t>
            </a:r>
          </a:p>
          <a:p>
            <a:r>
              <a:rPr lang="en-US" b="1" dirty="0"/>
              <a:t>Pros and Cons</a:t>
            </a:r>
            <a:br>
              <a:rPr lang="en-US" dirty="0"/>
            </a:br>
            <a:r>
              <a:rPr lang="en-US" dirty="0"/>
              <a:t>Users can fill in the Pros and Cons fields to highlight what they liked or disliked about the merchant. These notes help capture both strengths and weaknesses based on past visits.</a:t>
            </a:r>
          </a:p>
          <a:p>
            <a:r>
              <a:rPr lang="en-US" b="1" dirty="0"/>
              <a:t>Tips</a:t>
            </a:r>
            <a:br>
              <a:rPr lang="en-US" dirty="0"/>
            </a:br>
            <a:r>
              <a:rPr lang="en-US" dirty="0"/>
              <a:t>The Tips section allows users to add helpful insights for future reference, such as deals, discounts, or useful reminders (e.g., “20% off coupon every Monday”).</a:t>
            </a:r>
          </a:p>
          <a:p>
            <a:pPr marL="114300" indent="0">
              <a:buNone/>
            </a:pPr>
            <a:endParaRPr lang="en-US" dirty="0"/>
          </a:p>
        </p:txBody>
      </p:sp>
      <p:pic>
        <p:nvPicPr>
          <p:cNvPr id="4" name="图片 3">
            <a:extLst>
              <a:ext uri="{FF2B5EF4-FFF2-40B4-BE49-F238E27FC236}">
                <a16:creationId xmlns:a16="http://schemas.microsoft.com/office/drawing/2014/main" id="{380CFF0F-A9CE-605F-F00B-756DEA0842EF}"/>
              </a:ext>
            </a:extLst>
          </p:cNvPr>
          <p:cNvPicPr>
            <a:picLocks noChangeAspect="1"/>
          </p:cNvPicPr>
          <p:nvPr/>
        </p:nvPicPr>
        <p:blipFill>
          <a:blip r:embed="rId3"/>
          <a:stretch>
            <a:fillRect/>
          </a:stretch>
        </p:blipFill>
        <p:spPr>
          <a:xfrm>
            <a:off x="6968741" y="1076681"/>
            <a:ext cx="1540846" cy="3174263"/>
          </a:xfrm>
          <a:prstGeom prst="rect">
            <a:avLst/>
          </a:prstGeom>
        </p:spPr>
      </p:pic>
    </p:spTree>
    <p:extLst>
      <p:ext uri="{BB962C8B-B14F-4D97-AF65-F5344CB8AC3E}">
        <p14:creationId xmlns:p14="http://schemas.microsoft.com/office/powerpoint/2010/main" val="3447091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3">
          <a:extLst>
            <a:ext uri="{FF2B5EF4-FFF2-40B4-BE49-F238E27FC236}">
              <a16:creationId xmlns:a16="http://schemas.microsoft.com/office/drawing/2014/main" id="{5270C8EB-20B9-9934-ECC6-FE7231BB8B8F}"/>
            </a:ext>
          </a:extLst>
        </p:cNvPr>
        <p:cNvGrpSpPr/>
        <p:nvPr/>
      </p:nvGrpSpPr>
      <p:grpSpPr>
        <a:xfrm>
          <a:off x="0" y="0"/>
          <a:ext cx="0" cy="0"/>
          <a:chOff x="0" y="0"/>
          <a:chExt cx="0" cy="0"/>
        </a:xfrm>
      </p:grpSpPr>
      <p:sp>
        <p:nvSpPr>
          <p:cNvPr id="494" name="Google Shape;494;p61">
            <a:extLst>
              <a:ext uri="{FF2B5EF4-FFF2-40B4-BE49-F238E27FC236}">
                <a16:creationId xmlns:a16="http://schemas.microsoft.com/office/drawing/2014/main" id="{08EEDD4D-B563-921E-0D8C-B3BDDA492F47}"/>
              </a:ext>
            </a:extLst>
          </p:cNvPr>
          <p:cNvSpPr txBox="1">
            <a:spLocks noGrp="1"/>
          </p:cNvSpPr>
          <p:nvPr>
            <p:ph type="title"/>
          </p:nvPr>
        </p:nvSpPr>
        <p:spPr>
          <a:xfrm>
            <a:off x="713225" y="445025"/>
            <a:ext cx="4711500" cy="572700"/>
          </a:xfrm>
          <a:prstGeom prst="rect">
            <a:avLst/>
          </a:prstGeom>
        </p:spPr>
        <p:txBody>
          <a:bodyPr spcFirstLastPara="1" wrap="square" lIns="91425" tIns="91425" rIns="91425" bIns="91425" anchor="t" anchorCtr="0">
            <a:noAutofit/>
          </a:bodyPr>
          <a:lstStyle/>
          <a:p>
            <a:pPr lvl="0"/>
            <a:r>
              <a:rPr lang="en-US" b="1" dirty="0"/>
              <a:t>Setting </a:t>
            </a:r>
            <a:r>
              <a:rPr lang="en" b="1" dirty="0"/>
              <a:t>Page</a:t>
            </a:r>
            <a:r>
              <a:rPr lang="en" dirty="0"/>
              <a:t>:</a:t>
            </a:r>
            <a:endParaRPr dirty="0"/>
          </a:p>
        </p:txBody>
      </p:sp>
      <p:sp>
        <p:nvSpPr>
          <p:cNvPr id="495" name="Google Shape;495;p61">
            <a:extLst>
              <a:ext uri="{FF2B5EF4-FFF2-40B4-BE49-F238E27FC236}">
                <a16:creationId xmlns:a16="http://schemas.microsoft.com/office/drawing/2014/main" id="{84A7F4D0-2BAF-BCAB-551A-969C4CCD3370}"/>
              </a:ext>
            </a:extLst>
          </p:cNvPr>
          <p:cNvSpPr txBox="1">
            <a:spLocks noGrp="1"/>
          </p:cNvSpPr>
          <p:nvPr>
            <p:ph type="body" idx="1"/>
          </p:nvPr>
        </p:nvSpPr>
        <p:spPr>
          <a:xfrm>
            <a:off x="541579" y="981529"/>
            <a:ext cx="6005874" cy="3712523"/>
          </a:xfrm>
          <a:prstGeom prst="rect">
            <a:avLst/>
          </a:prstGeom>
        </p:spPr>
        <p:txBody>
          <a:bodyPr spcFirstLastPara="1" wrap="square" lIns="91425" tIns="91425" rIns="91425" bIns="91425" anchor="t" anchorCtr="0">
            <a:noAutofit/>
          </a:bodyPr>
          <a:lstStyle/>
          <a:p>
            <a:pPr marL="114300" indent="0">
              <a:buNone/>
            </a:pPr>
            <a:r>
              <a:rPr lang="en-US" dirty="0"/>
              <a:t>This screen is the Settings page, where users can view their account information and manage various app-related preferences. It provides easy access to key configuration options.</a:t>
            </a:r>
          </a:p>
          <a:p>
            <a:r>
              <a:rPr lang="en-US" b="1" dirty="0"/>
              <a:t>User Profile</a:t>
            </a:r>
            <a:br>
              <a:rPr lang="en-US" dirty="0"/>
            </a:br>
            <a:r>
              <a:rPr lang="en-US" dirty="0"/>
              <a:t>At the top, the page displays the user’s profile information, including their name and email address, serving as a quick reference to the currently signed-in account.</a:t>
            </a:r>
          </a:p>
          <a:p>
            <a:r>
              <a:rPr lang="en-US" b="1" dirty="0"/>
              <a:t>Category Management</a:t>
            </a:r>
            <a:br>
              <a:rPr lang="en-US" dirty="0"/>
            </a:br>
            <a:r>
              <a:rPr lang="en-US" dirty="0"/>
              <a:t>Users can navigate to Category Management to customize, add, or update transaction categories, allowing for more personalized financial tracking.</a:t>
            </a:r>
          </a:p>
          <a:p>
            <a:r>
              <a:rPr lang="en-US" b="1" dirty="0"/>
              <a:t>About App</a:t>
            </a:r>
            <a:br>
              <a:rPr lang="en-US" dirty="0"/>
            </a:br>
            <a:r>
              <a:rPr lang="en-US" dirty="0"/>
              <a:t>This section provides information about the application, such as version details or general app info, giving users insight into the product they are using.</a:t>
            </a:r>
          </a:p>
          <a:p>
            <a:r>
              <a:rPr lang="en-US" b="1" dirty="0"/>
              <a:t>Sign Out</a:t>
            </a:r>
            <a:br>
              <a:rPr lang="en-US" dirty="0"/>
            </a:br>
            <a:r>
              <a:rPr lang="en-US" dirty="0"/>
              <a:t>The Sign Out option allows users to securely log out of their account, ensuring privacy and safety when switching devices or accounts.</a:t>
            </a:r>
          </a:p>
          <a:p>
            <a:pPr marL="114300" indent="0">
              <a:buNone/>
            </a:pPr>
            <a:endParaRPr lang="en-US" dirty="0"/>
          </a:p>
        </p:txBody>
      </p:sp>
      <p:pic>
        <p:nvPicPr>
          <p:cNvPr id="8" name="图片 7">
            <a:extLst>
              <a:ext uri="{FF2B5EF4-FFF2-40B4-BE49-F238E27FC236}">
                <a16:creationId xmlns:a16="http://schemas.microsoft.com/office/drawing/2014/main" id="{599580B5-A13C-E901-8ACC-4DDC3460E77D}"/>
              </a:ext>
            </a:extLst>
          </p:cNvPr>
          <p:cNvPicPr>
            <a:picLocks noChangeAspect="1"/>
          </p:cNvPicPr>
          <p:nvPr/>
        </p:nvPicPr>
        <p:blipFill>
          <a:blip r:embed="rId3"/>
          <a:stretch>
            <a:fillRect/>
          </a:stretch>
        </p:blipFill>
        <p:spPr>
          <a:xfrm>
            <a:off x="7144096" y="1157824"/>
            <a:ext cx="1547385" cy="3209168"/>
          </a:xfrm>
          <a:prstGeom prst="rect">
            <a:avLst/>
          </a:prstGeom>
        </p:spPr>
      </p:pic>
    </p:spTree>
    <p:extLst>
      <p:ext uri="{BB962C8B-B14F-4D97-AF65-F5344CB8AC3E}">
        <p14:creationId xmlns:p14="http://schemas.microsoft.com/office/powerpoint/2010/main" val="1049689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93">
          <a:extLst>
            <a:ext uri="{FF2B5EF4-FFF2-40B4-BE49-F238E27FC236}">
              <a16:creationId xmlns:a16="http://schemas.microsoft.com/office/drawing/2014/main" id="{89CDDF30-CF00-95D3-5761-D784ED088454}"/>
            </a:ext>
          </a:extLst>
        </p:cNvPr>
        <p:cNvGrpSpPr/>
        <p:nvPr/>
      </p:nvGrpSpPr>
      <p:grpSpPr>
        <a:xfrm>
          <a:off x="0" y="0"/>
          <a:ext cx="0" cy="0"/>
          <a:chOff x="0" y="0"/>
          <a:chExt cx="0" cy="0"/>
        </a:xfrm>
      </p:grpSpPr>
      <p:sp>
        <p:nvSpPr>
          <p:cNvPr id="494" name="Google Shape;494;p61">
            <a:extLst>
              <a:ext uri="{FF2B5EF4-FFF2-40B4-BE49-F238E27FC236}">
                <a16:creationId xmlns:a16="http://schemas.microsoft.com/office/drawing/2014/main" id="{93739094-FA2C-28AA-6E69-CA018DD75E8F}"/>
              </a:ext>
            </a:extLst>
          </p:cNvPr>
          <p:cNvSpPr txBox="1">
            <a:spLocks noGrp="1"/>
          </p:cNvSpPr>
          <p:nvPr>
            <p:ph type="title"/>
          </p:nvPr>
        </p:nvSpPr>
        <p:spPr>
          <a:xfrm>
            <a:off x="713225" y="445025"/>
            <a:ext cx="4711500" cy="572700"/>
          </a:xfrm>
          <a:prstGeom prst="rect">
            <a:avLst/>
          </a:prstGeom>
        </p:spPr>
        <p:txBody>
          <a:bodyPr spcFirstLastPara="1" wrap="square" lIns="91425" tIns="91425" rIns="91425" bIns="91425" anchor="t" anchorCtr="0">
            <a:noAutofit/>
          </a:bodyPr>
          <a:lstStyle/>
          <a:p>
            <a:pPr lvl="0"/>
            <a:r>
              <a:rPr lang="en-US" b="1" dirty="0"/>
              <a:t>Profile </a:t>
            </a:r>
            <a:r>
              <a:rPr lang="en" b="1" dirty="0"/>
              <a:t>Page</a:t>
            </a:r>
            <a:r>
              <a:rPr lang="en" dirty="0"/>
              <a:t>:</a:t>
            </a:r>
            <a:endParaRPr dirty="0"/>
          </a:p>
        </p:txBody>
      </p:sp>
      <p:sp>
        <p:nvSpPr>
          <p:cNvPr id="495" name="Google Shape;495;p61">
            <a:extLst>
              <a:ext uri="{FF2B5EF4-FFF2-40B4-BE49-F238E27FC236}">
                <a16:creationId xmlns:a16="http://schemas.microsoft.com/office/drawing/2014/main" id="{83A6D828-4583-9376-D8FE-E32DA41E9C20}"/>
              </a:ext>
            </a:extLst>
          </p:cNvPr>
          <p:cNvSpPr txBox="1">
            <a:spLocks noGrp="1"/>
          </p:cNvSpPr>
          <p:nvPr>
            <p:ph type="body" idx="1"/>
          </p:nvPr>
        </p:nvSpPr>
        <p:spPr>
          <a:xfrm>
            <a:off x="541579" y="981529"/>
            <a:ext cx="6005874" cy="3712523"/>
          </a:xfrm>
          <a:prstGeom prst="rect">
            <a:avLst/>
          </a:prstGeom>
        </p:spPr>
        <p:txBody>
          <a:bodyPr spcFirstLastPara="1" wrap="square" lIns="91425" tIns="91425" rIns="91425" bIns="91425" anchor="t" anchorCtr="0">
            <a:noAutofit/>
          </a:bodyPr>
          <a:lstStyle/>
          <a:p>
            <a:pPr marL="114300" indent="0">
              <a:buNone/>
            </a:pPr>
            <a:r>
              <a:rPr lang="en-US" dirty="0"/>
              <a:t>This screen is the Profile page, where users can view and manage their personal account information. It provides a clear summary of key account details in a structured layout.</a:t>
            </a:r>
          </a:p>
          <a:p>
            <a:r>
              <a:rPr lang="en-US" b="1" dirty="0"/>
              <a:t>Profile Photo</a:t>
            </a:r>
            <a:br>
              <a:rPr lang="en-US" dirty="0"/>
            </a:br>
            <a:r>
              <a:rPr lang="en-US" dirty="0"/>
              <a:t>At the top, users can tap the profile photo area to open the photo library or camera, allowing them to upload or take a picture to set a custom avatar.</a:t>
            </a:r>
          </a:p>
          <a:p>
            <a:r>
              <a:rPr lang="en-US" b="1" dirty="0"/>
              <a:t>Account Information</a:t>
            </a:r>
            <a:br>
              <a:rPr lang="en-US" dirty="0"/>
            </a:br>
            <a:r>
              <a:rPr lang="en-US" dirty="0"/>
              <a:t>The page displays essential details including the username, phone number, and email address associated with the account. If certain information has not been set, it will appear as “Not set.”</a:t>
            </a:r>
          </a:p>
          <a:p>
            <a:r>
              <a:rPr lang="en-US" b="1" dirty="0"/>
              <a:t>Account Activity</a:t>
            </a:r>
            <a:br>
              <a:rPr lang="en-US" dirty="0"/>
            </a:br>
            <a:r>
              <a:rPr lang="en-US" dirty="0"/>
              <a:t>Users can also view their account creation date (Joined) and their most recent login time (Last Sign-in), offering useful context about account usage history.</a:t>
            </a:r>
          </a:p>
          <a:p>
            <a:r>
              <a:rPr lang="en-US" b="1" dirty="0"/>
              <a:t>Edit Option</a:t>
            </a:r>
            <a:br>
              <a:rPr lang="en-US" dirty="0"/>
            </a:br>
            <a:r>
              <a:rPr lang="en-US" dirty="0"/>
              <a:t>An Edit button in the top-right corner allows users to update their username and phone number.</a:t>
            </a:r>
          </a:p>
          <a:p>
            <a:pPr marL="114300" indent="0">
              <a:buNone/>
            </a:pPr>
            <a:endParaRPr lang="en-US" dirty="0"/>
          </a:p>
        </p:txBody>
      </p:sp>
      <p:pic>
        <p:nvPicPr>
          <p:cNvPr id="3" name="图片 2">
            <a:extLst>
              <a:ext uri="{FF2B5EF4-FFF2-40B4-BE49-F238E27FC236}">
                <a16:creationId xmlns:a16="http://schemas.microsoft.com/office/drawing/2014/main" id="{A43130EE-7429-FDCA-CC82-6A8B8CF895D2}"/>
              </a:ext>
            </a:extLst>
          </p:cNvPr>
          <p:cNvPicPr>
            <a:picLocks noChangeAspect="1"/>
          </p:cNvPicPr>
          <p:nvPr/>
        </p:nvPicPr>
        <p:blipFill>
          <a:blip r:embed="rId3"/>
          <a:stretch>
            <a:fillRect/>
          </a:stretch>
        </p:blipFill>
        <p:spPr>
          <a:xfrm>
            <a:off x="7070017" y="998662"/>
            <a:ext cx="1483491" cy="3146176"/>
          </a:xfrm>
          <a:prstGeom prst="rect">
            <a:avLst/>
          </a:prstGeom>
        </p:spPr>
      </p:pic>
    </p:spTree>
    <p:extLst>
      <p:ext uri="{BB962C8B-B14F-4D97-AF65-F5344CB8AC3E}">
        <p14:creationId xmlns:p14="http://schemas.microsoft.com/office/powerpoint/2010/main" val="19585538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93">
          <a:extLst>
            <a:ext uri="{FF2B5EF4-FFF2-40B4-BE49-F238E27FC236}">
              <a16:creationId xmlns:a16="http://schemas.microsoft.com/office/drawing/2014/main" id="{D7C4DAFC-9E6E-2570-29B4-2B43807795C7}"/>
            </a:ext>
          </a:extLst>
        </p:cNvPr>
        <p:cNvGrpSpPr/>
        <p:nvPr/>
      </p:nvGrpSpPr>
      <p:grpSpPr>
        <a:xfrm>
          <a:off x="0" y="0"/>
          <a:ext cx="0" cy="0"/>
          <a:chOff x="0" y="0"/>
          <a:chExt cx="0" cy="0"/>
        </a:xfrm>
      </p:grpSpPr>
      <p:sp>
        <p:nvSpPr>
          <p:cNvPr id="494" name="Google Shape;494;p61">
            <a:extLst>
              <a:ext uri="{FF2B5EF4-FFF2-40B4-BE49-F238E27FC236}">
                <a16:creationId xmlns:a16="http://schemas.microsoft.com/office/drawing/2014/main" id="{7F528458-AA23-FAF3-E1EF-E6C108410A76}"/>
              </a:ext>
            </a:extLst>
          </p:cNvPr>
          <p:cNvSpPr txBox="1">
            <a:spLocks noGrp="1"/>
          </p:cNvSpPr>
          <p:nvPr>
            <p:ph type="title"/>
          </p:nvPr>
        </p:nvSpPr>
        <p:spPr>
          <a:xfrm>
            <a:off x="713225" y="445025"/>
            <a:ext cx="4910491" cy="572700"/>
          </a:xfrm>
          <a:prstGeom prst="rect">
            <a:avLst/>
          </a:prstGeom>
        </p:spPr>
        <p:txBody>
          <a:bodyPr spcFirstLastPara="1" wrap="square" lIns="91425" tIns="91425" rIns="91425" bIns="91425" anchor="t" anchorCtr="0">
            <a:noAutofit/>
          </a:bodyPr>
          <a:lstStyle/>
          <a:p>
            <a:pPr lvl="0"/>
            <a:r>
              <a:rPr lang="en-US" b="1" dirty="0"/>
              <a:t>Category Management </a:t>
            </a:r>
            <a:r>
              <a:rPr lang="en" b="1" dirty="0"/>
              <a:t>Page</a:t>
            </a:r>
            <a:r>
              <a:rPr lang="en" dirty="0"/>
              <a:t>:</a:t>
            </a:r>
            <a:endParaRPr dirty="0"/>
          </a:p>
        </p:txBody>
      </p:sp>
      <p:sp>
        <p:nvSpPr>
          <p:cNvPr id="495" name="Google Shape;495;p61">
            <a:extLst>
              <a:ext uri="{FF2B5EF4-FFF2-40B4-BE49-F238E27FC236}">
                <a16:creationId xmlns:a16="http://schemas.microsoft.com/office/drawing/2014/main" id="{62875176-23E7-26A2-FAC4-3C4022A9CB0D}"/>
              </a:ext>
            </a:extLst>
          </p:cNvPr>
          <p:cNvSpPr txBox="1">
            <a:spLocks noGrp="1"/>
          </p:cNvSpPr>
          <p:nvPr>
            <p:ph type="body" idx="1"/>
          </p:nvPr>
        </p:nvSpPr>
        <p:spPr>
          <a:xfrm>
            <a:off x="541579" y="981529"/>
            <a:ext cx="6005874" cy="3712523"/>
          </a:xfrm>
          <a:prstGeom prst="rect">
            <a:avLst/>
          </a:prstGeom>
        </p:spPr>
        <p:txBody>
          <a:bodyPr spcFirstLastPara="1" wrap="square" lIns="91425" tIns="91425" rIns="91425" bIns="91425" anchor="t" anchorCtr="0">
            <a:noAutofit/>
          </a:bodyPr>
          <a:lstStyle/>
          <a:p>
            <a:pPr marL="114300" indent="0">
              <a:buNone/>
            </a:pPr>
            <a:r>
              <a:rPr lang="en-US" dirty="0"/>
              <a:t>This screen is the Category Management page, where users can view and organize all transaction categories used throughout the app. It provides a clear list of both income and expense categories.</a:t>
            </a:r>
          </a:p>
          <a:p>
            <a:r>
              <a:rPr lang="en-US" b="1" dirty="0"/>
              <a:t>Default Categories</a:t>
            </a:r>
            <a:br>
              <a:rPr lang="en-US" dirty="0"/>
            </a:br>
            <a:r>
              <a:rPr lang="en-US" dirty="0"/>
              <a:t>Each category in the list is labeled as a “Default Category,” indicating that it comes preloaded with the app. Examples include Bonus, Dining, Education, Entertainment, Gifts, Healthcare, Housing, Investment, Salary, Shopping, and more.</a:t>
            </a:r>
          </a:p>
          <a:p>
            <a:r>
              <a:rPr lang="en-US" b="1" dirty="0"/>
              <a:t>Visual Indicators</a:t>
            </a:r>
            <a:br>
              <a:rPr lang="en-US" dirty="0"/>
            </a:br>
            <a:r>
              <a:rPr lang="en-US" dirty="0"/>
              <a:t>Every category is accompanied by an icon and a color marker on the right side, making it easier for users to quickly recognize and differentiate categories during transaction entry.</a:t>
            </a:r>
          </a:p>
          <a:p>
            <a:r>
              <a:rPr lang="en-US" b="1" dirty="0"/>
              <a:t>Add Category</a:t>
            </a:r>
            <a:br>
              <a:rPr lang="en-US" dirty="0"/>
            </a:br>
            <a:r>
              <a:rPr lang="en-US" dirty="0"/>
              <a:t>In the top-right corner, users can tap the + icon to create and customize new categories, allowing for more personalized expense or income tracking.</a:t>
            </a:r>
          </a:p>
          <a:p>
            <a:pPr marL="114300" indent="0">
              <a:buNone/>
            </a:pPr>
            <a:endParaRPr lang="en-US" dirty="0"/>
          </a:p>
        </p:txBody>
      </p:sp>
      <p:pic>
        <p:nvPicPr>
          <p:cNvPr id="4" name="图片 3">
            <a:extLst>
              <a:ext uri="{FF2B5EF4-FFF2-40B4-BE49-F238E27FC236}">
                <a16:creationId xmlns:a16="http://schemas.microsoft.com/office/drawing/2014/main" id="{1E5BC156-054D-C337-D374-7DE3ED1642CA}"/>
              </a:ext>
            </a:extLst>
          </p:cNvPr>
          <p:cNvPicPr>
            <a:picLocks noChangeAspect="1"/>
          </p:cNvPicPr>
          <p:nvPr/>
        </p:nvPicPr>
        <p:blipFill>
          <a:blip r:embed="rId3"/>
          <a:stretch>
            <a:fillRect/>
          </a:stretch>
        </p:blipFill>
        <p:spPr>
          <a:xfrm>
            <a:off x="6796675" y="981529"/>
            <a:ext cx="1515270" cy="3168022"/>
          </a:xfrm>
          <a:prstGeom prst="rect">
            <a:avLst/>
          </a:prstGeom>
        </p:spPr>
      </p:pic>
    </p:spTree>
    <p:extLst>
      <p:ext uri="{BB962C8B-B14F-4D97-AF65-F5344CB8AC3E}">
        <p14:creationId xmlns:p14="http://schemas.microsoft.com/office/powerpoint/2010/main" val="1778398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62"/>
          <p:cNvSpPr txBox="1">
            <a:spLocks noGrp="1"/>
          </p:cNvSpPr>
          <p:nvPr>
            <p:ph type="title"/>
          </p:nvPr>
        </p:nvSpPr>
        <p:spPr>
          <a:xfrm>
            <a:off x="713225" y="445025"/>
            <a:ext cx="3583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Github Link:</a:t>
            </a:r>
            <a:endParaRPr dirty="0"/>
          </a:p>
        </p:txBody>
      </p:sp>
      <p:sp>
        <p:nvSpPr>
          <p:cNvPr id="509" name="Google Shape;509;p62"/>
          <p:cNvSpPr txBox="1">
            <a:spLocks noGrp="1"/>
          </p:cNvSpPr>
          <p:nvPr>
            <p:ph type="title" idx="9"/>
          </p:nvPr>
        </p:nvSpPr>
        <p:spPr>
          <a:xfrm>
            <a:off x="1311329" y="2193021"/>
            <a:ext cx="6593705" cy="1027664"/>
          </a:xfrm>
          <a:prstGeom prst="rect">
            <a:avLst/>
          </a:prstGeom>
        </p:spPr>
        <p:txBody>
          <a:bodyPr spcFirstLastPara="1" wrap="square" lIns="91425" tIns="91425" rIns="91425" bIns="91425" anchor="ctr" anchorCtr="0">
            <a:noAutofit/>
          </a:bodyPr>
          <a:lstStyle/>
          <a:p>
            <a:pPr lvl="0"/>
            <a:r>
              <a:rPr lang="en-US" dirty="0"/>
              <a:t>https://github.com/xzy95024/financial-management-app</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3" name="副标题 2">
            <a:extLst>
              <a:ext uri="{FF2B5EF4-FFF2-40B4-BE49-F238E27FC236}">
                <a16:creationId xmlns:a16="http://schemas.microsoft.com/office/drawing/2014/main" id="{FD6D5DF1-9266-DA6D-BC0C-61F67CA31CCD}"/>
              </a:ext>
            </a:extLst>
          </p:cNvPr>
          <p:cNvSpPr>
            <a:spLocks noGrp="1"/>
          </p:cNvSpPr>
          <p:nvPr>
            <p:ph type="subTitle" idx="1"/>
          </p:nvPr>
        </p:nvSpPr>
        <p:spPr>
          <a:xfrm>
            <a:off x="678054" y="1114155"/>
            <a:ext cx="5458200" cy="997200"/>
          </a:xfrm>
        </p:spPr>
        <p:txBody>
          <a:bodyPr/>
          <a:lstStyle/>
          <a:p>
            <a:r>
              <a:rPr lang="en-US" dirty="0"/>
              <a:t>T</a:t>
            </a:r>
            <a:r>
              <a:rPr lang="en-US" altLang="zh-CN" dirty="0"/>
              <a:t>hanks!</a:t>
            </a:r>
            <a:endParaRPr lang="en-US" dirty="0"/>
          </a:p>
        </p:txBody>
      </p:sp>
    </p:spTree>
  </p:cSld>
  <p:clrMapOvr>
    <a:masterClrMapping/>
  </p:clrMapOvr>
</p:sld>
</file>

<file path=ppt/theme/theme1.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1876</Words>
  <Application>Microsoft Office PowerPoint</Application>
  <PresentationFormat>全屏显示(16:9)</PresentationFormat>
  <Paragraphs>95</Paragraphs>
  <Slides>16</Slides>
  <Notes>16</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16</vt:i4>
      </vt:variant>
    </vt:vector>
  </HeadingPairs>
  <TitlesOfParts>
    <vt:vector size="22" baseType="lpstr">
      <vt:lpstr>Crimson Text</vt:lpstr>
      <vt:lpstr>Lato</vt:lpstr>
      <vt:lpstr>Arial</vt:lpstr>
      <vt:lpstr>Vidaloka</vt:lpstr>
      <vt:lpstr>Montserrat</vt:lpstr>
      <vt:lpstr>Minimalist Business Slides XL by Slidesgo</vt:lpstr>
      <vt:lpstr>VendorLog</vt:lpstr>
      <vt:lpstr>LogIn Page:</vt:lpstr>
      <vt:lpstr>Create Account Page:</vt:lpstr>
      <vt:lpstr>Home Page:</vt:lpstr>
      <vt:lpstr>Home Page:</vt:lpstr>
      <vt:lpstr>Add Transaction Page:</vt:lpstr>
      <vt:lpstr>Transactions Page:</vt:lpstr>
      <vt:lpstr>Statistics Page:</vt:lpstr>
      <vt:lpstr>Merchants Page:</vt:lpstr>
      <vt:lpstr>Merchant Details Page:</vt:lpstr>
      <vt:lpstr>Merchant Edit Page:</vt:lpstr>
      <vt:lpstr>Setting Page:</vt:lpstr>
      <vt:lpstr>Profile Page:</vt:lpstr>
      <vt:lpstr>Category Management Page:</vt:lpstr>
      <vt:lpstr>Github Link:</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Ziyang Xu</cp:lastModifiedBy>
  <cp:revision>1</cp:revision>
  <dcterms:modified xsi:type="dcterms:W3CDTF">2025-11-29T07:29:44Z</dcterms:modified>
</cp:coreProperties>
</file>